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5_BCFF40DE.xml" ContentType="application/vnd.ms-powerpoint.comments+xml"/>
  <Override PartName="/ppt/comments/modernComment_103_3FC88E.xml" ContentType="application/vnd.ms-powerpoint.comments+xml"/>
  <Override PartName="/ppt/comments/modernComment_104_4CA1F8F2.xml" ContentType="application/vnd.ms-powerpoint.comments+xml"/>
  <Override PartName="/ppt/comments/modernComment_105_5A67DE84.xml" ContentType="application/vnd.ms-powerpoint.comments+xml"/>
  <Override PartName="/ppt/comments/modernComment_10A_B16EE75B.xml" ContentType="application/vnd.ms-powerpoint.comments+xml"/>
  <Override PartName="/ppt/comments/modernComment_106_AA231712.xml" ContentType="application/vnd.ms-powerpoint.comments+xml"/>
  <Override PartName="/ppt/comments/modernComment_107_633471B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7" r:id="rId6"/>
    <p:sldId id="268" r:id="rId7"/>
    <p:sldId id="269" r:id="rId8"/>
    <p:sldId id="271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78" r:id="rId18"/>
    <p:sldId id="259" r:id="rId19"/>
    <p:sldId id="260" r:id="rId20"/>
    <p:sldId id="261" r:id="rId21"/>
    <p:sldId id="266" r:id="rId22"/>
    <p:sldId id="262" r:id="rId23"/>
    <p:sldId id="263" r:id="rId24"/>
    <p:sldId id="281" r:id="rId25"/>
    <p:sldId id="264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DD828C-818E-F7CC-6EA6-247EC2C4CB21}" name="Guest User" initials="GU" userId="S::urn:spo:anon#d6f78246d33e3199d79bc06ae77be8f9407ee59bafd5c4e3361656c8440ee4fb::" providerId="AD"/>
  <p188:author id="{84D3B4EF-0AFE-F5CB-F843-112B5D85FE35}" name="Julian Woodward" initials="JW" userId="S::julian.woodward@cse.org.uk::c2f96a64-f06b-48c4-bb87-de0f7a7f71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  <a:srgbClr val="BDC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ED1F8-09B6-3D27-4AFF-D162AAA3BA97}" v="14" dt="2025-04-09T12:13:40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Woodward" userId="c2f96a64-f06b-48c4-bb87-de0f7a7f716e" providerId="ADAL" clId="{B3AB0602-2B61-4D3F-95F3-252157A8438E}"/>
    <pc:docChg chg="undo custSel addSld modSld sldOrd addSection delSection">
      <pc:chgData name="Julian Woodward" userId="c2f96a64-f06b-48c4-bb87-de0f7a7f716e" providerId="ADAL" clId="{B3AB0602-2B61-4D3F-95F3-252157A8438E}" dt="2025-04-04T15:57:50.457" v="10840" actId="20577"/>
      <pc:docMkLst>
        <pc:docMk/>
      </pc:docMkLst>
      <pc:sldChg chg="addSp delSp modSp mod">
        <pc:chgData name="Julian Woodward" userId="c2f96a64-f06b-48c4-bb87-de0f7a7f716e" providerId="ADAL" clId="{B3AB0602-2B61-4D3F-95F3-252157A8438E}" dt="2025-04-01T10:54:05.380" v="541" actId="21"/>
        <pc:sldMkLst>
          <pc:docMk/>
          <pc:sldMk cId="300645019" sldId="257"/>
        </pc:sldMkLst>
        <pc:spChg chg="mod">
          <ac:chgData name="Julian Woodward" userId="c2f96a64-f06b-48c4-bb87-de0f7a7f716e" providerId="ADAL" clId="{B3AB0602-2B61-4D3F-95F3-252157A8438E}" dt="2025-03-31T15:47:41.448" v="191" actId="20577"/>
          <ac:spMkLst>
            <pc:docMk/>
            <pc:sldMk cId="300645019" sldId="257"/>
            <ac:spMk id="3" creationId="{63C3A03D-2635-7E7E-FA34-D2BDA9D23D0D}"/>
          </ac:spMkLst>
        </pc:spChg>
      </pc:sldChg>
      <pc:sldChg chg="ord">
        <pc:chgData name="Julian Woodward" userId="c2f96a64-f06b-48c4-bb87-de0f7a7f716e" providerId="ADAL" clId="{B3AB0602-2B61-4D3F-95F3-252157A8438E}" dt="2025-04-02T12:58:24.411" v="2296"/>
        <pc:sldMkLst>
          <pc:docMk/>
          <pc:sldMk cId="3853444206" sldId="258"/>
        </pc:sldMkLst>
      </pc:sldChg>
      <pc:sldChg chg="addSp modSp mod">
        <pc:chgData name="Julian Woodward" userId="c2f96a64-f06b-48c4-bb87-de0f7a7f716e" providerId="ADAL" clId="{B3AB0602-2B61-4D3F-95F3-252157A8438E}" dt="2025-04-04T13:58:01.222" v="10651" actId="20577"/>
        <pc:sldMkLst>
          <pc:docMk/>
          <pc:sldMk cId="4180110" sldId="259"/>
        </pc:sldMkLst>
        <pc:graphicFrameChg chg="add mod modGraphic">
          <ac:chgData name="Julian Woodward" userId="c2f96a64-f06b-48c4-bb87-de0f7a7f716e" providerId="ADAL" clId="{B3AB0602-2B61-4D3F-95F3-252157A8438E}" dt="2025-04-04T13:58:01.222" v="10651" actId="20577"/>
          <ac:graphicFrameMkLst>
            <pc:docMk/>
            <pc:sldMk cId="4180110" sldId="259"/>
            <ac:graphicFrameMk id="4" creationId="{DEB970B3-663E-658B-4D47-BA89EB2B1618}"/>
          </ac:graphicFrameMkLst>
        </pc:graphicFrameChg>
      </pc:sldChg>
      <pc:sldChg chg="addSp modSp mod">
        <pc:chgData name="Julian Woodward" userId="c2f96a64-f06b-48c4-bb87-de0f7a7f716e" providerId="ADAL" clId="{B3AB0602-2B61-4D3F-95F3-252157A8438E}" dt="2025-04-04T15:40:45.512" v="10821" actId="14734"/>
        <pc:sldMkLst>
          <pc:docMk/>
          <pc:sldMk cId="1285683442" sldId="260"/>
        </pc:sldMkLst>
        <pc:spChg chg="mod">
          <ac:chgData name="Julian Woodward" userId="c2f96a64-f06b-48c4-bb87-de0f7a7f716e" providerId="ADAL" clId="{B3AB0602-2B61-4D3F-95F3-252157A8438E}" dt="2025-03-31T15:26:23.409" v="73" actId="20577"/>
          <ac:spMkLst>
            <pc:docMk/>
            <pc:sldMk cId="1285683442" sldId="260"/>
            <ac:spMk id="3" creationId="{0EEFFB0A-27CE-03BC-1C81-68547E2572BA}"/>
          </ac:spMkLst>
        </pc:spChg>
        <pc:graphicFrameChg chg="add mod modGraphic">
          <ac:chgData name="Julian Woodward" userId="c2f96a64-f06b-48c4-bb87-de0f7a7f716e" providerId="ADAL" clId="{B3AB0602-2B61-4D3F-95F3-252157A8438E}" dt="2025-04-04T15:40:45.512" v="10821" actId="14734"/>
          <ac:graphicFrameMkLst>
            <pc:docMk/>
            <pc:sldMk cId="1285683442" sldId="260"/>
            <ac:graphicFrameMk id="4" creationId="{A9FC78B8-F4DE-EC38-BF67-EBE16B9EDF99}"/>
          </ac:graphicFrameMkLst>
        </pc:graphicFrameChg>
      </pc:sldChg>
      <pc:sldChg chg="addSp delSp modSp mod">
        <pc:chgData name="Julian Woodward" userId="c2f96a64-f06b-48c4-bb87-de0f7a7f716e" providerId="ADAL" clId="{B3AB0602-2B61-4D3F-95F3-252157A8438E}" dt="2025-04-04T12:57:26.256" v="10549" actId="20577"/>
        <pc:sldMkLst>
          <pc:docMk/>
          <pc:sldMk cId="1516756612" sldId="261"/>
        </pc:sldMkLst>
        <pc:graphicFrameChg chg="add mod modGraphic">
          <ac:chgData name="Julian Woodward" userId="c2f96a64-f06b-48c4-bb87-de0f7a7f716e" providerId="ADAL" clId="{B3AB0602-2B61-4D3F-95F3-252157A8438E}" dt="2025-04-04T12:57:26.256" v="10549" actId="20577"/>
          <ac:graphicFrameMkLst>
            <pc:docMk/>
            <pc:sldMk cId="1516756612" sldId="261"/>
            <ac:graphicFrameMk id="4" creationId="{C845171A-64E8-7550-7CD6-E1D5D323CF61}"/>
          </ac:graphicFrameMkLst>
        </pc:graphicFrameChg>
      </pc:sldChg>
      <pc:sldChg chg="addSp modSp mod">
        <pc:chgData name="Julian Woodward" userId="c2f96a64-f06b-48c4-bb87-de0f7a7f716e" providerId="ADAL" clId="{B3AB0602-2B61-4D3F-95F3-252157A8438E}" dt="2025-04-04T12:28:20.269" v="10283" actId="6549"/>
        <pc:sldMkLst>
          <pc:docMk/>
          <pc:sldMk cId="2854426386" sldId="262"/>
        </pc:sldMkLst>
        <pc:graphicFrameChg chg="add mod modGraphic">
          <ac:chgData name="Julian Woodward" userId="c2f96a64-f06b-48c4-bb87-de0f7a7f716e" providerId="ADAL" clId="{B3AB0602-2B61-4D3F-95F3-252157A8438E}" dt="2025-04-04T12:28:20.269" v="10283" actId="6549"/>
          <ac:graphicFrameMkLst>
            <pc:docMk/>
            <pc:sldMk cId="2854426386" sldId="262"/>
            <ac:graphicFrameMk id="4" creationId="{0EB97C8B-A03D-F449-5D43-FCF6F03438F0}"/>
          </ac:graphicFrameMkLst>
        </pc:graphicFrameChg>
      </pc:sldChg>
      <pc:sldChg chg="addSp modSp mod">
        <pc:chgData name="Julian Woodward" userId="c2f96a64-f06b-48c4-bb87-de0f7a7f716e" providerId="ADAL" clId="{B3AB0602-2B61-4D3F-95F3-252157A8438E}" dt="2025-04-04T14:14:13.094" v="10753" actId="1076"/>
        <pc:sldMkLst>
          <pc:docMk/>
          <pc:sldMk cId="1664381373" sldId="263"/>
        </pc:sldMkLst>
        <pc:spChg chg="mod">
          <ac:chgData name="Julian Woodward" userId="c2f96a64-f06b-48c4-bb87-de0f7a7f716e" providerId="ADAL" clId="{B3AB0602-2B61-4D3F-95F3-252157A8438E}" dt="2025-04-04T14:14:11.039" v="10752" actId="1076"/>
          <ac:spMkLst>
            <pc:docMk/>
            <pc:sldMk cId="1664381373" sldId="263"/>
            <ac:spMk id="2" creationId="{88852957-7A0D-7375-104F-3F42B925C07C}"/>
          </ac:spMkLst>
        </pc:spChg>
        <pc:graphicFrameChg chg="add mod modGraphic">
          <ac:chgData name="Julian Woodward" userId="c2f96a64-f06b-48c4-bb87-de0f7a7f716e" providerId="ADAL" clId="{B3AB0602-2B61-4D3F-95F3-252157A8438E}" dt="2025-04-04T14:14:13.094" v="10753" actId="1076"/>
          <ac:graphicFrameMkLst>
            <pc:docMk/>
            <pc:sldMk cId="1664381373" sldId="263"/>
            <ac:graphicFrameMk id="4" creationId="{307F7097-E5C2-4E52-723D-32A3DFC6B02C}"/>
          </ac:graphicFrameMkLst>
        </pc:graphicFrameChg>
      </pc:sldChg>
      <pc:sldChg chg="addSp modSp new mod">
        <pc:chgData name="Julian Woodward" userId="c2f96a64-f06b-48c4-bb87-de0f7a7f716e" providerId="ADAL" clId="{B3AB0602-2B61-4D3F-95F3-252157A8438E}" dt="2025-04-01T12:39:31.635" v="1719" actId="20577"/>
        <pc:sldMkLst>
          <pc:docMk/>
          <pc:sldMk cId="2796783475" sldId="265"/>
        </pc:sldMkLst>
        <pc:graphicFrameChg chg="add mod modGraphic">
          <ac:chgData name="Julian Woodward" userId="c2f96a64-f06b-48c4-bb87-de0f7a7f716e" providerId="ADAL" clId="{B3AB0602-2B61-4D3F-95F3-252157A8438E}" dt="2025-04-01T12:39:31.635" v="1719" actId="20577"/>
          <ac:graphicFrameMkLst>
            <pc:docMk/>
            <pc:sldMk cId="2796783475" sldId="265"/>
            <ac:graphicFrameMk id="4" creationId="{B939C1A6-D9C6-CC4A-78EF-A261E7829597}"/>
          </ac:graphicFrameMkLst>
        </pc:graphicFrameChg>
      </pc:sldChg>
      <pc:sldChg chg="addSp delSp modSp new mod">
        <pc:chgData name="Julian Woodward" userId="c2f96a64-f06b-48c4-bb87-de0f7a7f716e" providerId="ADAL" clId="{B3AB0602-2B61-4D3F-95F3-252157A8438E}" dt="2025-04-04T15:42:14.984" v="10824" actId="20577"/>
        <pc:sldMkLst>
          <pc:docMk/>
          <pc:sldMk cId="2976835419" sldId="266"/>
        </pc:sldMkLst>
        <pc:spChg chg="mod">
          <ac:chgData name="Julian Woodward" userId="c2f96a64-f06b-48c4-bb87-de0f7a7f716e" providerId="ADAL" clId="{B3AB0602-2B61-4D3F-95F3-252157A8438E}" dt="2025-04-04T12:32:03.209" v="10374"/>
          <ac:spMkLst>
            <pc:docMk/>
            <pc:sldMk cId="2976835419" sldId="266"/>
            <ac:spMk id="2" creationId="{547F2FA9-459C-4909-A989-0435C37E8DA7}"/>
          </ac:spMkLst>
        </pc:spChg>
        <pc:graphicFrameChg chg="add mod modGraphic">
          <ac:chgData name="Julian Woodward" userId="c2f96a64-f06b-48c4-bb87-de0f7a7f716e" providerId="ADAL" clId="{B3AB0602-2B61-4D3F-95F3-252157A8438E}" dt="2025-04-04T15:42:14.984" v="10824" actId="20577"/>
          <ac:graphicFrameMkLst>
            <pc:docMk/>
            <pc:sldMk cId="2976835419" sldId="266"/>
            <ac:graphicFrameMk id="4" creationId="{234A96BB-C385-FF8F-E735-A04904194477}"/>
          </ac:graphicFrameMkLst>
        </pc:graphicFrameChg>
      </pc:sldChg>
      <pc:sldChg chg="modSp new mod">
        <pc:chgData name="Julian Woodward" userId="c2f96a64-f06b-48c4-bb87-de0f7a7f716e" providerId="ADAL" clId="{B3AB0602-2B61-4D3F-95F3-252157A8438E}" dt="2025-04-04T09:04:35.229" v="3649" actId="20577"/>
        <pc:sldMkLst>
          <pc:docMk/>
          <pc:sldMk cId="801592851" sldId="267"/>
        </pc:sldMkLst>
        <pc:spChg chg="mod">
          <ac:chgData name="Julian Woodward" userId="c2f96a64-f06b-48c4-bb87-de0f7a7f716e" providerId="ADAL" clId="{B3AB0602-2B61-4D3F-95F3-252157A8438E}" dt="2025-04-02T12:58:46.672" v="2369" actId="20577"/>
          <ac:spMkLst>
            <pc:docMk/>
            <pc:sldMk cId="801592851" sldId="267"/>
            <ac:spMk id="2" creationId="{50313391-C20C-E828-B4B5-2DA25F3E9B52}"/>
          </ac:spMkLst>
        </pc:spChg>
        <pc:spChg chg="mod">
          <ac:chgData name="Julian Woodward" userId="c2f96a64-f06b-48c4-bb87-de0f7a7f716e" providerId="ADAL" clId="{B3AB0602-2B61-4D3F-95F3-252157A8438E}" dt="2025-04-04T09:04:35.229" v="3649" actId="20577"/>
          <ac:spMkLst>
            <pc:docMk/>
            <pc:sldMk cId="801592851" sldId="267"/>
            <ac:spMk id="3" creationId="{D92ABAC8-D978-166D-81C6-CAB05EAF9CF8}"/>
          </ac:spMkLst>
        </pc:spChg>
      </pc:sldChg>
      <pc:sldChg chg="modSp add mod">
        <pc:chgData name="Julian Woodward" userId="c2f96a64-f06b-48c4-bb87-de0f7a7f716e" providerId="ADAL" clId="{B3AB0602-2B61-4D3F-95F3-252157A8438E}" dt="2025-04-04T09:09:00.863" v="4644" actId="20577"/>
        <pc:sldMkLst>
          <pc:docMk/>
          <pc:sldMk cId="1597183525" sldId="268"/>
        </pc:sldMkLst>
        <pc:spChg chg="mod">
          <ac:chgData name="Julian Woodward" userId="c2f96a64-f06b-48c4-bb87-de0f7a7f716e" providerId="ADAL" clId="{B3AB0602-2B61-4D3F-95F3-252157A8438E}" dt="2025-04-04T09:09:00.863" v="4644" actId="20577"/>
          <ac:spMkLst>
            <pc:docMk/>
            <pc:sldMk cId="1597183525" sldId="268"/>
            <ac:spMk id="3" creationId="{C34C89A8-B27F-D691-1709-DF6F689A9E72}"/>
          </ac:spMkLst>
        </pc:spChg>
      </pc:sldChg>
      <pc:sldChg chg="modSp add mod">
        <pc:chgData name="Julian Woodward" userId="c2f96a64-f06b-48c4-bb87-de0f7a7f716e" providerId="ADAL" clId="{B3AB0602-2B61-4D3F-95F3-252157A8438E}" dt="2025-04-04T09:11:41.517" v="5231" actId="20577"/>
        <pc:sldMkLst>
          <pc:docMk/>
          <pc:sldMk cId="2067372664" sldId="269"/>
        </pc:sldMkLst>
        <pc:spChg chg="mod">
          <ac:chgData name="Julian Woodward" userId="c2f96a64-f06b-48c4-bb87-de0f7a7f716e" providerId="ADAL" clId="{B3AB0602-2B61-4D3F-95F3-252157A8438E}" dt="2025-04-04T09:11:41.517" v="5231" actId="20577"/>
          <ac:spMkLst>
            <pc:docMk/>
            <pc:sldMk cId="2067372664" sldId="269"/>
            <ac:spMk id="3" creationId="{7067F23C-FEAB-8826-3E85-6979CFC237E4}"/>
          </ac:spMkLst>
        </pc:spChg>
      </pc:sldChg>
      <pc:sldChg chg="modSp add mod">
        <pc:chgData name="Julian Woodward" userId="c2f96a64-f06b-48c4-bb87-de0f7a7f716e" providerId="ADAL" clId="{B3AB0602-2B61-4D3F-95F3-252157A8438E}" dt="2025-04-04T09:18:50.144" v="6435" actId="113"/>
        <pc:sldMkLst>
          <pc:docMk/>
          <pc:sldMk cId="3242442309" sldId="270"/>
        </pc:sldMkLst>
        <pc:spChg chg="mod">
          <ac:chgData name="Julian Woodward" userId="c2f96a64-f06b-48c4-bb87-de0f7a7f716e" providerId="ADAL" clId="{B3AB0602-2B61-4D3F-95F3-252157A8438E}" dt="2025-04-04T09:12:05.234" v="5277" actId="20577"/>
          <ac:spMkLst>
            <pc:docMk/>
            <pc:sldMk cId="3242442309" sldId="270"/>
            <ac:spMk id="2" creationId="{6AB8CA29-6833-6D17-9014-627088F95FE1}"/>
          </ac:spMkLst>
        </pc:spChg>
        <pc:spChg chg="mod">
          <ac:chgData name="Julian Woodward" userId="c2f96a64-f06b-48c4-bb87-de0f7a7f716e" providerId="ADAL" clId="{B3AB0602-2B61-4D3F-95F3-252157A8438E}" dt="2025-04-04T09:18:50.144" v="6435" actId="113"/>
          <ac:spMkLst>
            <pc:docMk/>
            <pc:sldMk cId="3242442309" sldId="270"/>
            <ac:spMk id="3" creationId="{53969EAE-42E4-C93A-4678-AE6D840394A1}"/>
          </ac:spMkLst>
        </pc:spChg>
      </pc:sldChg>
      <pc:sldChg chg="modSp add mod ord">
        <pc:chgData name="Julian Woodward" userId="c2f96a64-f06b-48c4-bb87-de0f7a7f716e" providerId="ADAL" clId="{B3AB0602-2B61-4D3F-95F3-252157A8438E}" dt="2025-04-04T09:16:12.842" v="6191"/>
        <pc:sldMkLst>
          <pc:docMk/>
          <pc:sldMk cId="832828520" sldId="271"/>
        </pc:sldMkLst>
        <pc:spChg chg="mod">
          <ac:chgData name="Julian Woodward" userId="c2f96a64-f06b-48c4-bb87-de0f7a7f716e" providerId="ADAL" clId="{B3AB0602-2B61-4D3F-95F3-252157A8438E}" dt="2025-04-04T09:16:10.115" v="6189" actId="20577"/>
          <ac:spMkLst>
            <pc:docMk/>
            <pc:sldMk cId="832828520" sldId="271"/>
            <ac:spMk id="3" creationId="{4D5A67A4-27C9-082F-17F3-1E63AE58F325}"/>
          </ac:spMkLst>
        </pc:spChg>
      </pc:sldChg>
      <pc:sldChg chg="modSp add mod">
        <pc:chgData name="Julian Woodward" userId="c2f96a64-f06b-48c4-bb87-de0f7a7f716e" providerId="ADAL" clId="{B3AB0602-2B61-4D3F-95F3-252157A8438E}" dt="2025-04-04T09:18:44.650" v="6433" actId="113"/>
        <pc:sldMkLst>
          <pc:docMk/>
          <pc:sldMk cId="2537070026" sldId="272"/>
        </pc:sldMkLst>
        <pc:spChg chg="mod">
          <ac:chgData name="Julian Woodward" userId="c2f96a64-f06b-48c4-bb87-de0f7a7f716e" providerId="ADAL" clId="{B3AB0602-2B61-4D3F-95F3-252157A8438E}" dt="2025-04-04T09:18:44.650" v="6433" actId="113"/>
          <ac:spMkLst>
            <pc:docMk/>
            <pc:sldMk cId="2537070026" sldId="272"/>
            <ac:spMk id="3" creationId="{E53C6512-F40E-A6B7-BD04-0CD7D77A3191}"/>
          </ac:spMkLst>
        </pc:spChg>
      </pc:sldChg>
      <pc:sldChg chg="modSp add mod">
        <pc:chgData name="Julian Woodward" userId="c2f96a64-f06b-48c4-bb87-de0f7a7f716e" providerId="ADAL" clId="{B3AB0602-2B61-4D3F-95F3-252157A8438E}" dt="2025-04-04T09:24:26.071" v="6861" actId="113"/>
        <pc:sldMkLst>
          <pc:docMk/>
          <pc:sldMk cId="156979433" sldId="273"/>
        </pc:sldMkLst>
        <pc:spChg chg="mod">
          <ac:chgData name="Julian Woodward" userId="c2f96a64-f06b-48c4-bb87-de0f7a7f716e" providerId="ADAL" clId="{B3AB0602-2B61-4D3F-95F3-252157A8438E}" dt="2025-04-04T09:24:26.071" v="6861" actId="113"/>
          <ac:spMkLst>
            <pc:docMk/>
            <pc:sldMk cId="156979433" sldId="273"/>
            <ac:spMk id="3" creationId="{6845677E-2780-B949-E2D4-B674B18961BB}"/>
          </ac:spMkLst>
        </pc:spChg>
      </pc:sldChg>
      <pc:sldChg chg="modSp add mod">
        <pc:chgData name="Julian Woodward" userId="c2f96a64-f06b-48c4-bb87-de0f7a7f716e" providerId="ADAL" clId="{B3AB0602-2B61-4D3F-95F3-252157A8438E}" dt="2025-04-04T09:25:03.700" v="6898" actId="20577"/>
        <pc:sldMkLst>
          <pc:docMk/>
          <pc:sldMk cId="4176824491" sldId="274"/>
        </pc:sldMkLst>
        <pc:spChg chg="mod">
          <ac:chgData name="Julian Woodward" userId="c2f96a64-f06b-48c4-bb87-de0f7a7f716e" providerId="ADAL" clId="{B3AB0602-2B61-4D3F-95F3-252157A8438E}" dt="2025-04-04T09:25:03.700" v="6898" actId="20577"/>
          <ac:spMkLst>
            <pc:docMk/>
            <pc:sldMk cId="4176824491" sldId="274"/>
            <ac:spMk id="3" creationId="{F2D61DAD-E529-B222-6674-C90D938527DC}"/>
          </ac:spMkLst>
        </pc:spChg>
      </pc:sldChg>
      <pc:sldChg chg="addSp delSp modSp add mod">
        <pc:chgData name="Julian Woodward" userId="c2f96a64-f06b-48c4-bb87-de0f7a7f716e" providerId="ADAL" clId="{B3AB0602-2B61-4D3F-95F3-252157A8438E}" dt="2025-04-04T09:32:57.384" v="7297" actId="207"/>
        <pc:sldMkLst>
          <pc:docMk/>
          <pc:sldMk cId="3485016458" sldId="275"/>
        </pc:sldMkLst>
        <pc:spChg chg="del">
          <ac:chgData name="Julian Woodward" userId="c2f96a64-f06b-48c4-bb87-de0f7a7f716e" providerId="ADAL" clId="{B3AB0602-2B61-4D3F-95F3-252157A8438E}" dt="2025-04-04T09:25:27.253" v="6903" actId="478"/>
          <ac:spMkLst>
            <pc:docMk/>
            <pc:sldMk cId="3485016458" sldId="275"/>
            <ac:spMk id="3" creationId="{6DA221F0-0920-7137-BF48-E57BC5AF392A}"/>
          </ac:spMkLst>
        </pc:spChg>
        <pc:spChg chg="add del mod">
          <ac:chgData name="Julian Woodward" userId="c2f96a64-f06b-48c4-bb87-de0f7a7f716e" providerId="ADAL" clId="{B3AB0602-2B61-4D3F-95F3-252157A8438E}" dt="2025-04-04T09:25:30.590" v="6904" actId="478"/>
          <ac:spMkLst>
            <pc:docMk/>
            <pc:sldMk cId="3485016458" sldId="275"/>
            <ac:spMk id="6" creationId="{5F619AD0-7F7E-9199-9B30-B3A24FC6B90F}"/>
          </ac:spMkLst>
        </pc:spChg>
        <pc:graphicFrameChg chg="add mod modGraphic">
          <ac:chgData name="Julian Woodward" userId="c2f96a64-f06b-48c4-bb87-de0f7a7f716e" providerId="ADAL" clId="{B3AB0602-2B61-4D3F-95F3-252157A8438E}" dt="2025-04-04T09:32:57.384" v="7297" actId="207"/>
          <ac:graphicFrameMkLst>
            <pc:docMk/>
            <pc:sldMk cId="3485016458" sldId="275"/>
            <ac:graphicFrameMk id="4" creationId="{A0EA8717-2C6B-7AEA-0DBA-BDFED0A977DC}"/>
          </ac:graphicFrameMkLst>
        </pc:graphicFrameChg>
      </pc:sldChg>
      <pc:sldChg chg="addSp delSp modSp add mod">
        <pc:chgData name="Julian Woodward" userId="c2f96a64-f06b-48c4-bb87-de0f7a7f716e" providerId="ADAL" clId="{B3AB0602-2B61-4D3F-95F3-252157A8438E}" dt="2025-04-04T15:13:08.099" v="10809" actId="20578"/>
        <pc:sldMkLst>
          <pc:docMk/>
          <pc:sldMk cId="3048270154" sldId="276"/>
        </pc:sldMkLst>
        <pc:graphicFrameChg chg="add mod modGraphic">
          <ac:chgData name="Julian Woodward" userId="c2f96a64-f06b-48c4-bb87-de0f7a7f716e" providerId="ADAL" clId="{B3AB0602-2B61-4D3F-95F3-252157A8438E}" dt="2025-04-04T15:13:08.099" v="10809" actId="20578"/>
          <ac:graphicFrameMkLst>
            <pc:docMk/>
            <pc:sldMk cId="3048270154" sldId="276"/>
            <ac:graphicFrameMk id="3" creationId="{D0C6B475-371F-84F7-4B6E-B077E50EC615}"/>
          </ac:graphicFrameMkLst>
        </pc:graphicFrameChg>
        <pc:graphicFrameChg chg="del">
          <ac:chgData name="Julian Woodward" userId="c2f96a64-f06b-48c4-bb87-de0f7a7f716e" providerId="ADAL" clId="{B3AB0602-2B61-4D3F-95F3-252157A8438E}" dt="2025-04-04T09:33:35.203" v="7301" actId="478"/>
          <ac:graphicFrameMkLst>
            <pc:docMk/>
            <pc:sldMk cId="3048270154" sldId="276"/>
            <ac:graphicFrameMk id="4" creationId="{37EEC845-1A76-FC46-4E99-2126F7D5F4CA}"/>
          </ac:graphicFrameMkLst>
        </pc:graphicFrameChg>
        <pc:graphicFrameChg chg="add mod">
          <ac:chgData name="Julian Woodward" userId="c2f96a64-f06b-48c4-bb87-de0f7a7f716e" providerId="ADAL" clId="{B3AB0602-2B61-4D3F-95F3-252157A8438E}" dt="2025-04-04T09:37:14.445" v="7664" actId="571"/>
          <ac:graphicFrameMkLst>
            <pc:docMk/>
            <pc:sldMk cId="3048270154" sldId="276"/>
            <ac:graphicFrameMk id="5" creationId="{45993FEF-903E-AF56-C87D-7A5DACBEA0CB}"/>
          </ac:graphicFrameMkLst>
        </pc:graphicFrameChg>
      </pc:sldChg>
      <pc:sldChg chg="addSp delSp modSp new mod">
        <pc:chgData name="Julian Woodward" userId="c2f96a64-f06b-48c4-bb87-de0f7a7f716e" providerId="ADAL" clId="{B3AB0602-2B61-4D3F-95F3-252157A8438E}" dt="2025-04-04T15:16:35.768" v="10814" actId="122"/>
        <pc:sldMkLst>
          <pc:docMk/>
          <pc:sldMk cId="3170844894" sldId="277"/>
        </pc:sldMkLst>
        <pc:spChg chg="mod">
          <ac:chgData name="Julian Woodward" userId="c2f96a64-f06b-48c4-bb87-de0f7a7f716e" providerId="ADAL" clId="{B3AB0602-2B61-4D3F-95F3-252157A8438E}" dt="2025-04-04T09:38:13.315" v="7733" actId="20577"/>
          <ac:spMkLst>
            <pc:docMk/>
            <pc:sldMk cId="3170844894" sldId="277"/>
            <ac:spMk id="2" creationId="{C9E204F2-6511-CD0A-8C5C-7DE402648CE1}"/>
          </ac:spMkLst>
        </pc:spChg>
        <pc:spChg chg="del">
          <ac:chgData name="Julian Woodward" userId="c2f96a64-f06b-48c4-bb87-de0f7a7f716e" providerId="ADAL" clId="{B3AB0602-2B61-4D3F-95F3-252157A8438E}" dt="2025-04-04T09:38:18.027" v="7734" actId="3680"/>
          <ac:spMkLst>
            <pc:docMk/>
            <pc:sldMk cId="3170844894" sldId="277"/>
            <ac:spMk id="3" creationId="{29D96C74-BF73-9023-F98E-878256A81D05}"/>
          </ac:spMkLst>
        </pc:spChg>
        <pc:graphicFrameChg chg="add mod ord modGraphic">
          <ac:chgData name="Julian Woodward" userId="c2f96a64-f06b-48c4-bb87-de0f7a7f716e" providerId="ADAL" clId="{B3AB0602-2B61-4D3F-95F3-252157A8438E}" dt="2025-04-04T15:16:35.768" v="10814" actId="122"/>
          <ac:graphicFrameMkLst>
            <pc:docMk/>
            <pc:sldMk cId="3170844894" sldId="277"/>
            <ac:graphicFrameMk id="4" creationId="{7478E7F8-C196-6FA7-6585-3DB1289FB971}"/>
          </ac:graphicFrameMkLst>
        </pc:graphicFrameChg>
      </pc:sldChg>
      <pc:sldChg chg="new">
        <pc:chgData name="Julian Woodward" userId="c2f96a64-f06b-48c4-bb87-de0f7a7f716e" providerId="ADAL" clId="{B3AB0602-2B61-4D3F-95F3-252157A8438E}" dt="2025-04-04T09:54:04.462" v="8503" actId="680"/>
        <pc:sldMkLst>
          <pc:docMk/>
          <pc:sldMk cId="1657334834" sldId="278"/>
        </pc:sldMkLst>
      </pc:sldChg>
      <pc:sldChg chg="modSp add mod">
        <pc:chgData name="Julian Woodward" userId="c2f96a64-f06b-48c4-bb87-de0f7a7f716e" providerId="ADAL" clId="{B3AB0602-2B61-4D3F-95F3-252157A8438E}" dt="2025-04-04T15:57:50.457" v="10840" actId="20577"/>
        <pc:sldMkLst>
          <pc:docMk/>
          <pc:sldMk cId="2917208209" sldId="279"/>
        </pc:sldMkLst>
        <pc:graphicFrameChg chg="mod modGraphic">
          <ac:chgData name="Julian Woodward" userId="c2f96a64-f06b-48c4-bb87-de0f7a7f716e" providerId="ADAL" clId="{B3AB0602-2B61-4D3F-95F3-252157A8438E}" dt="2025-04-04T15:57:50.457" v="10840" actId="20577"/>
          <ac:graphicFrameMkLst>
            <pc:docMk/>
            <pc:sldMk cId="2917208209" sldId="279"/>
            <ac:graphicFrameMk id="4" creationId="{30E0FE66-E976-9972-E4C9-6F965848D82D}"/>
          </ac:graphicFrameMkLst>
        </pc:graphicFrameChg>
      </pc:sldChg>
      <pc:sldChg chg="new">
        <pc:chgData name="Julian Woodward" userId="c2f96a64-f06b-48c4-bb87-de0f7a7f716e" providerId="ADAL" clId="{B3AB0602-2B61-4D3F-95F3-252157A8438E}" dt="2025-04-04T13:55:55.095" v="10550" actId="680"/>
        <pc:sldMkLst>
          <pc:docMk/>
          <pc:sldMk cId="2407070062" sldId="280"/>
        </pc:sldMkLst>
      </pc:sldChg>
      <pc:sldChg chg="modSp add mod">
        <pc:chgData name="Julian Woodward" userId="c2f96a64-f06b-48c4-bb87-de0f7a7f716e" providerId="ADAL" clId="{B3AB0602-2B61-4D3F-95F3-252157A8438E}" dt="2025-04-04T14:58:42.518" v="10808" actId="20577"/>
        <pc:sldMkLst>
          <pc:docMk/>
          <pc:sldMk cId="2229374199" sldId="281"/>
        </pc:sldMkLst>
        <pc:graphicFrameChg chg="mod modGraphic">
          <ac:chgData name="Julian Woodward" userId="c2f96a64-f06b-48c4-bb87-de0f7a7f716e" providerId="ADAL" clId="{B3AB0602-2B61-4D3F-95F3-252157A8438E}" dt="2025-04-04T14:58:42.518" v="10808" actId="20577"/>
          <ac:graphicFrameMkLst>
            <pc:docMk/>
            <pc:sldMk cId="2229374199" sldId="281"/>
            <ac:graphicFrameMk id="4" creationId="{50A5AF1F-0CC0-B2BE-ECD5-78B39973F6CF}"/>
          </ac:graphicFrameMkLst>
        </pc:graphicFrameChg>
      </pc:sldChg>
    </pc:docChg>
  </pc:docChgLst>
  <pc:docChgLst>
    <pc:chgData name="Guest User" userId="S::urn:spo:anon#d6f78246d33e3199d79bc06ae77be8f9407ee59bafd5c4e3361656c8440ee4fb::" providerId="AD" clId="Web-{F91ED1F8-09B6-3D27-4AFF-D162AAA3BA97}"/>
    <pc:docChg chg="mod">
      <pc:chgData name="Guest User" userId="S::urn:spo:anon#d6f78246d33e3199d79bc06ae77be8f9407ee59bafd5c4e3361656c8440ee4fb::" providerId="AD" clId="Web-{F91ED1F8-09B6-3D27-4AFF-D162AAA3BA97}" dt="2025-04-09T11:26:31.320" v="0"/>
      <pc:docMkLst>
        <pc:docMk/>
      </pc:docMkLst>
    </pc:docChg>
  </pc:docChgLst>
</pc:chgInfo>
</file>

<file path=ppt/comments/modernComment_10A_B16EE75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3C91F7-6A2A-4658-9620-15A1F893A100}" authorId="{41DD828C-818E-F7CC-6EA6-247EC2C4CB21}" created="2025-04-09T11:59:24.207">
    <pc:sldMkLst xmlns:pc="http://schemas.microsoft.com/office/powerpoint/2013/main/command">
      <pc:docMk/>
      <pc:sldMk cId="2976835419" sldId="266"/>
    </pc:sldMkLst>
    <p188:txBody>
      <a:bodyPr/>
      <a:lstStyle/>
      <a:p>
        <a:r>
          <a:rPr lang="en-GB"/>
          <a:t>Sorry I missed this from the other slide. I see the Intelligent Octopus Go adds complications due to not having annual data, so let's leave that one out, I think we have enough options for now.</a:t>
        </a:r>
      </a:p>
    </p188:txBody>
  </p188:cm>
</p188:cmLst>
</file>

<file path=ppt/comments/modernComment_103_3FC8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3BACEF-B648-4FE7-9579-1771F37D3A88}" authorId="{41DD828C-818E-F7CC-6EA6-247EC2C4CB21}" created="2025-04-09T11:26:31.3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0110" sldId="259"/>
      <ac:graphicFrameMk id="4" creationId="{DEB970B3-663E-658B-4D47-BA89EB2B1618}"/>
    </ac:deMkLst>
    <p188:txBody>
      <a:bodyPr/>
      <a:lstStyle/>
      <a:p>
        <a:r>
          <a:rPr lang="en-GB"/>
          <a:t>Just do 1, 3 and 4:
- Economy 7 tariff
- Storage heater tariff 1 
- Storage heater tariff 2*
* requires specific tech</a:t>
        </a:r>
      </a:p>
    </p188:txBody>
  </p188:cm>
</p188:cmLst>
</file>

<file path=ppt/comments/modernComment_104_4CA1F8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D70FDA-926E-4D17-A403-61B1F38330E7}" authorId="{41DD828C-818E-F7CC-6EA6-247EC2C4CB21}" created="2025-04-09T11:36:58.869">
    <pc:sldMkLst xmlns:pc="http://schemas.microsoft.com/office/powerpoint/2013/main/command">
      <pc:docMk/>
      <pc:sldMk cId="1285683442" sldId="260"/>
    </pc:sldMkLst>
    <p188:replyLst>
      <p188:reply id="{9CAFFFA3-E512-420A-B3A1-41AE0570C82E}" authorId="{41DD828C-818E-F7CC-6EA6-247EC2C4CB21}" created="2025-04-09T12:09:40.661">
        <p188:txBody>
          <a:bodyPr/>
          <a:lstStyle/>
          <a:p>
            <a:r>
              <a:rPr lang="en-GB"/>
              <a:t>Have I described option 3 right here? What is option 2 assuming?</a:t>
            </a:r>
          </a:p>
        </p188:txBody>
      </p188:reply>
    </p188:replyLst>
    <p188:txBody>
      <a:bodyPr/>
      <a:lstStyle/>
      <a:p>
        <a:r>
          <a:rPr lang="en-GB"/>
          <a:t>Just do 3, 5 and 6. 
Can we redo calculations for 5 and 6 with 3 as the baseline? 
I'm not sure a PPM user could sign up to 1 (maybe I'm wrong)
Names:
- Standard PPM tariff
- + Demand shifting scheme
+ Demand shifting scheme and shifting</a:t>
        </a:r>
      </a:p>
    </p188:txBody>
  </p188:cm>
</p188:cmLst>
</file>

<file path=ppt/comments/modernComment_105_5A67DE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727696-D082-4206-9926-EF9281573CFE}" authorId="{84D3B4EF-0AFE-F5CB-F843-112B5D85FE35}" created="2025-04-04T15:46:05.7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16756612" sldId="261"/>
      <ac:graphicFrameMk id="4" creationId="{C845171A-64E8-7550-7CD6-E1D5D323CF61}"/>
      <ac:tblMk/>
      <ac:tcMk rowId="1909655626" colId="2445714155"/>
      <ac:txMk cp="0" len="24">
        <ac:context len="25" hash="630311672"/>
      </ac:txMk>
    </ac:txMkLst>
    <p188:pos x="2238375" y="3480526"/>
    <p188:txBody>
      <a:bodyPr/>
      <a:lstStyle/>
      <a:p>
        <a:r>
          <a:rPr lang="en-GB"/>
          <a:t>Remove: not eligible w/o battery</a:t>
        </a:r>
      </a:p>
    </p188:txBody>
  </p188:cm>
  <p188:cm id="{E82CDFFF-4331-4137-A3E4-64D09951BCA3}" authorId="{41DD828C-818E-F7CC-6EA6-247EC2C4CB21}" created="2025-04-09T11:53:47.900">
    <pc:sldMkLst xmlns:pc="http://schemas.microsoft.com/office/powerpoint/2013/main/command">
      <pc:docMk/>
      <pc:sldMk cId="1516756612" sldId="261"/>
    </pc:sldMkLst>
    <p188:replyLst>
      <p188:reply id="{C15F157C-048B-45E6-B154-BF1A18284633}" authorId="{41DD828C-818E-F7CC-6EA6-247EC2C4CB21}" created="2025-04-09T11:55:41.596">
        <p188:txBody>
          <a:bodyPr/>
          <a:lstStyle/>
          <a:p>
            <a:r>
              <a:rPr lang="en-GB"/>
              <a:t>- Can we include Intelligent Octopus Go in the mix here pls (Time and type of use EV tariff)? 
- Can we pls have an option including OVO SEG Install Exclusive at 15p/kWh
- How does modelling a dynamic SEG (e.g. Outgoing Agile Octopus) impact things?</a:t>
            </a:r>
          </a:p>
        </p188:txBody>
      </p188:reply>
    </p188:replyLst>
    <p188:txBody>
      <a:bodyPr/>
      <a:lstStyle/>
      <a:p>
        <a:r>
          <a:rPr lang="en-GB"/>
          <a:t>Do: 1, 2 and 5:
- Fixed rate tariff (baseline)
- Time of use EV tariff + static SEG
- Type of use EV tariff* + static SEG
I would also like to see if poss:
- Time of use EV tariff + dynamic SEG (if its cheaper/possible to model)
- Type of use EV tariff* + static SEG* (the installer exclusive one)</a:t>
        </a:r>
      </a:p>
    </p188:txBody>
  </p188:cm>
</p188:cmLst>
</file>

<file path=ppt/comments/modernComment_106_AA2317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9B0CA2-370A-402E-A69C-44ACDF0F31D9}" authorId="{41DD828C-818E-F7CC-6EA6-247EC2C4CB21}" created="2025-04-09T12:00:05.4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54426386" sldId="262"/>
      <ac:graphicFrameMk id="4" creationId="{0EB97C8B-A03D-F449-5D43-FCF6F03438F0}"/>
    </ac:deMkLst>
    <p188:txBody>
      <a:bodyPr/>
      <a:lstStyle/>
      <a:p>
        <a:r>
          <a:rPr lang="en-GB"/>
          <a:t>Just go with 1, 3 and 4.
- Fixed rate tariff (baseline)
- + Demand shifting scheme
= + Demand shifting scheme and shifting</a:t>
        </a:r>
      </a:p>
    </p188:txBody>
  </p188:cm>
</p188:cmLst>
</file>

<file path=ppt/comments/modernComment_107_633471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9EDE93-7E44-4E8F-83B5-F8C976EA1C5F}" authorId="{84D3B4EF-0AFE-F5CB-F843-112B5D85FE35}" created="2025-04-04T15:52:30.8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64381373" sldId="263"/>
      <ac:graphicFrameMk id="4" creationId="{307F7097-E5C2-4E52-723D-32A3DFC6B02C}"/>
      <ac:tblMk/>
      <ac:tcMk rowId="485226095" colId="2445714155"/>
      <ac:txMk cp="0" len="95">
        <ac:context len="96" hash="651466653"/>
      </ac:txMk>
    </ac:txMkLst>
    <p188:pos x="3171825" y="5338763"/>
    <p188:replyLst>
      <p188:reply id="{278544BD-324F-4976-AA9C-8E33CEA342FA}" authorId="{41DD828C-818E-F7CC-6EA6-247EC2C4CB21}" created="2025-04-09T12:01:32.389">
        <p188:txBody>
          <a:bodyPr/>
          <a:lstStyle/>
          <a:p>
            <a:r>
              <a:rPr lang="en-GB"/>
              <a:t>It is actually possible! but we're assuming no EV so don't need to worry about it for now</a:t>
            </a:r>
          </a:p>
        </p188:txBody>
      </p188:reply>
    </p188:replyLst>
    <p188:txBody>
      <a:bodyPr/>
      <a:lstStyle/>
      <a:p>
        <a:r>
          <a:rPr lang="en-GB"/>
          <a:t>Nick reckons not possible</a:t>
        </a:r>
      </a:p>
    </p188:txBody>
  </p188:cm>
  <p188:cm id="{0EEB838C-68D8-4AA5-B9C3-2675C57C8795}" authorId="{84D3B4EF-0AFE-F5CB-F843-112B5D85FE35}" created="2025-04-04T15:53:37.3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64381373" sldId="263"/>
      <ac:graphicFrameMk id="4" creationId="{307F7097-E5C2-4E52-723D-32A3DFC6B02C}"/>
    </ac:deMkLst>
    <p188:txBody>
      <a:bodyPr/>
      <a:lstStyle/>
      <a:p>
        <a:r>
          <a:rPr lang="en-GB"/>
          <a:t>Make HP only</a:t>
        </a:r>
      </a:p>
    </p188:txBody>
  </p188:cm>
  <p188:cm id="{50F19F4A-0D39-4814-B954-8CEFED966EEF}" authorId="{41DD828C-818E-F7CC-6EA6-247EC2C4CB21}" created="2025-04-09T12:05:08.828">
    <pc:sldMkLst xmlns:pc="http://schemas.microsoft.com/office/powerpoint/2013/main/command">
      <pc:docMk/>
      <pc:sldMk cId="1664381373" sldId="263"/>
    </pc:sldMkLst>
    <p188:txBody>
      <a:bodyPr/>
      <a:lstStyle/>
      <a:p>
        <a:r>
          <a:rPr lang="en-GB"/>
          <a:t>Assuming no EV, so let's go with 1, 4 and 7 here:
- Fixed rate tariff (baseline)
- Time of use heat pump tariff
- Type of use heat pump tariff*</a:t>
        </a:r>
      </a:p>
    </p188:txBody>
  </p188:cm>
</p188:cmLst>
</file>

<file path=ppt/comments/modernComment_115_BCFF40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D0287E-5290-441B-AE24-C6A93F73AD79}" authorId="{84D3B4EF-0AFE-F5CB-F843-112B5D85FE35}" created="2025-04-04T15:17:32.630">
    <pc:sldMkLst xmlns:pc="http://schemas.microsoft.com/office/powerpoint/2013/main/command">
      <pc:docMk/>
      <pc:sldMk cId="3170844894" sldId="277"/>
    </pc:sldMkLst>
    <p188:txBody>
      <a:bodyPr/>
      <a:lstStyle/>
      <a:p>
        <a:r>
          <a:rPr lang="en-GB"/>
          <a:t>Visualisation of these data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761A-7CEA-A242-C401-4545AE672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D8CFC-2D97-42D0-0568-39DAC1F67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A3ED0-28E8-01B9-69B6-BAE545AE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F24E-C0BA-090B-38EA-A07A2E3B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AE448-E13A-F8D7-BBC8-2AA9C983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2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2800-D552-AB12-6C15-8F10C205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EBC1-7B13-2803-4F2D-ACC2F656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76395-D02D-762A-8B6F-2C31484B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E2B66-EF9D-169D-6066-FEF6B0C0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5367-AD21-4333-430C-9B5D3DFB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45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DC73-F7BB-E494-2270-A7471571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4C7B0-7708-0E67-2591-96E72FA7B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BBE0B-B64B-F61A-AE67-B46B3E63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43E38-0EFA-94FA-C4E1-98E1AB60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1117E-1155-8C82-30BD-A3599790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32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CF09-8502-23E1-53BA-791229C4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E0F0F-8368-FE66-E280-C6055850C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55784-94D8-084E-E9B6-14D41B092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9660F-F5F9-4A07-F777-BA1ECD74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C38E1-F2CB-2AED-59B7-CF109AAD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59EC6-FC97-854C-DE98-970F7C91A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49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5B16-8B40-175D-388F-B86F93FF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D929-A912-B985-68FB-6EDF5D0F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A944F-1D5E-2EE3-9F06-1EF31B593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63347-58AA-BBFA-F9E5-C3A9DE703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BC07F-0179-1B3F-F0C0-6505E12E2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F607B1-8B73-A8CB-A5DD-330CF86B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B369-6119-9686-2E88-FA551E6A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9F8F1-8B7A-319F-3A17-15DD1D82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70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641-78AC-0C72-B22A-252B9B5A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5D54A-A14A-206A-B44A-681FA224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2B8BC-A15D-F535-0531-B88AC88A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492A-DB5D-3C38-53C7-A8F8766A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3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C2538-89E8-6091-7832-6E40D09B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83006-31F1-43B9-3104-943524DF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2F6C0-84E9-2EB1-7D38-D302B90B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56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1ED4-E90D-8CEB-E00E-39C517E7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95E8-3B0E-6B3B-5FC1-79F52DFEB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55E67-4AF8-A2D4-744B-945C503E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FFA81-0D13-0BAA-DE7C-B006F3CB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F1CD8-70F8-EB51-7DE4-C1D2B099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6F2AD-234C-239A-D891-5E952950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91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33D2-1B60-3DFB-CC81-D05641A1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E7D9A-577A-B734-1307-2E1154676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AEE09-786E-4630-B8AC-220AA1CE6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3DA39-E791-4D9E-8BBA-9460A4C9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D5A4-8CEB-669B-BC74-8136EF2D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E4F0B-1EB8-C79C-CEF2-5EDE4332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57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BC77-7D7A-03F1-024B-71E1FBE0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42711-CD6B-B675-7C99-BEDF86AE8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7000F-82DE-DA1A-2AD3-2C36DEEF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7E008-1C7F-70DC-1ED2-1156BFE5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D2061-176B-4554-3B84-393A11E5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693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B30BF-50C2-2A2A-2ADD-7047157BA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E6515-2AC6-2918-BAEF-DB669BE01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341E-8D51-C9F6-0AAC-7D92D5D5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71EEA-788D-EA3E-F33D-2978B05B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6E18E-70F4-A90B-2CA1-8398C0F3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67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8D926-F98D-886E-6F12-D1366D14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35DAC-5350-A389-4554-AC8972420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64DB4-1E61-73EF-BEA3-0B5BBF545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4DAF1-FF6A-49F7-B3DD-FC1A3D1C1BDC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DE89-A565-2C7B-23B8-EA582B0C4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0E0A-00E2-BE40-8412-540DDA476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27A13-E3A8-4680-9EFE-5E3E660C22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8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BCFF40DE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3FC88E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4CA1F8F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5A67DE8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B16EE75B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AA2317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33471BD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105E-051B-B2D0-527A-1388451D1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Financial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443E1-9066-9C7D-CBCE-4A7330B88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08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70A3-6818-4874-5E52-DD483A4D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3A03D-2635-7E7E-FA34-D2BDA9D23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Definitions</a:t>
            </a:r>
          </a:p>
          <a:p>
            <a:pPr lvl="1"/>
            <a:r>
              <a:rPr lang="en-GB" dirty="0"/>
              <a:t>Persona 1 = ES</a:t>
            </a:r>
          </a:p>
          <a:p>
            <a:pPr lvl="1"/>
            <a:r>
              <a:rPr lang="en-GB" dirty="0"/>
              <a:t>Persona 2 = G10p</a:t>
            </a:r>
          </a:p>
          <a:p>
            <a:pPr lvl="1"/>
            <a:r>
              <a:rPr lang="en-GB" dirty="0"/>
              <a:t>Persona 3 = VX</a:t>
            </a:r>
          </a:p>
          <a:p>
            <a:pPr lvl="1"/>
            <a:r>
              <a:rPr lang="en-GB" dirty="0"/>
              <a:t>Persona 4 = G22</a:t>
            </a:r>
          </a:p>
          <a:p>
            <a:pPr lvl="1"/>
            <a:r>
              <a:rPr lang="en-GB" dirty="0"/>
              <a:t>Persona 5 = HP_EV</a:t>
            </a:r>
          </a:p>
          <a:p>
            <a:r>
              <a:rPr lang="en-GB" dirty="0"/>
              <a:t>Typical bills (baseline)</a:t>
            </a:r>
          </a:p>
          <a:p>
            <a:r>
              <a:rPr lang="en-GB" dirty="0"/>
              <a:t>Import (&amp; export profiles)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64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165A-A769-55E9-7F10-810E6722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D74C-47A3-C16A-9223-2DBDE3018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39C1A6-D9C6-CC4A-78EF-A261E7829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144672"/>
              </p:ext>
            </p:extLst>
          </p:nvPr>
        </p:nvGraphicFramePr>
        <p:xfrm>
          <a:off x="838200" y="697819"/>
          <a:ext cx="10406744" cy="559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771">
                  <a:extLst>
                    <a:ext uri="{9D8B030D-6E8A-4147-A177-3AD203B41FA5}">
                      <a16:colId xmlns:a16="http://schemas.microsoft.com/office/drawing/2014/main" val="3711653808"/>
                    </a:ext>
                  </a:extLst>
                </a:gridCol>
                <a:gridCol w="5477317">
                  <a:extLst>
                    <a:ext uri="{9D8B030D-6E8A-4147-A177-3AD203B41FA5}">
                      <a16:colId xmlns:a16="http://schemas.microsoft.com/office/drawing/2014/main" val="2108918065"/>
                    </a:ext>
                  </a:extLst>
                </a:gridCol>
                <a:gridCol w="2748656">
                  <a:extLst>
                    <a:ext uri="{9D8B030D-6E8A-4147-A177-3AD203B41FA5}">
                      <a16:colId xmlns:a16="http://schemas.microsoft.com/office/drawing/2014/main" val="1004321326"/>
                    </a:ext>
                  </a:extLst>
                </a:gridCol>
              </a:tblGrid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Persona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Baseline electricity bills</a:t>
                      </a:r>
                    </a:p>
                    <a:p>
                      <a:r>
                        <a:rPr lang="en-GB" dirty="0"/>
                        <a:t> </a:t>
                      </a:r>
                    </a:p>
                    <a:p>
                      <a:r>
                        <a:rPr lang="en-GB" dirty="0"/>
                        <a:t>(octopus fixed 12M Jan 2024 unless stated otherwise)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75232"/>
                  </a:ext>
                </a:extLst>
              </a:tr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1 : 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£1556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Octopus fixed 12M Jan 2024 Economy 7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935136"/>
                  </a:ext>
                </a:extLst>
              </a:tr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2 : G10p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441408"/>
                  </a:ext>
                </a:extLst>
              </a:tr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3 : VX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Import: £1679</a:t>
                      </a:r>
                    </a:p>
                    <a:p>
                      <a:r>
                        <a:rPr lang="en-GB" i="1" dirty="0"/>
                        <a:t>Export: £245</a:t>
                      </a:r>
                    </a:p>
                    <a:p>
                      <a:r>
                        <a:rPr lang="en-GB" dirty="0"/>
                        <a:t>Net: £1434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Export = (Octopus) Fixed Outgoing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66696"/>
                  </a:ext>
                </a:extLst>
              </a:tr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4 : G22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813393"/>
                  </a:ext>
                </a:extLst>
              </a:tr>
              <a:tr h="858176">
                <a:tc>
                  <a:txBody>
                    <a:bodyPr/>
                    <a:lstStyle/>
                    <a:p>
                      <a:r>
                        <a:rPr lang="en-GB" dirty="0"/>
                        <a:t>5 : HP_EV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19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78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40F3-BEAD-99CE-DC6E-5BC4962B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7D94-B24B-2ED1-858E-104241526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Compare financial gains between personas</a:t>
            </a:r>
          </a:p>
          <a:p>
            <a:r>
              <a:rPr lang="en-GB" dirty="0"/>
              <a:t>Depending on their expected flexibility profile</a:t>
            </a:r>
          </a:p>
          <a:p>
            <a:r>
              <a:rPr lang="en-GB" dirty="0"/>
              <a:t>Explain why it might / might not be likely that consumption = mean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Explain difficulty comparing between fixed/TOUT/etc… tariff</a:t>
            </a:r>
          </a:p>
          <a:p>
            <a:pPr lvl="1"/>
            <a:r>
              <a:rPr lang="en-GB" dirty="0" err="1"/>
              <a:t>Bc</a:t>
            </a:r>
            <a:r>
              <a:rPr lang="en-GB" dirty="0"/>
              <a:t> of wholesale prices </a:t>
            </a:r>
            <a:r>
              <a:rPr lang="en-GB" dirty="0" err="1"/>
              <a:t>init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344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3391-C20C-E828-B4B5-2DA25F3E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flex or anti-flex?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BAC8-D978-166D-81C6-CAB05EAF9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Persona import values per half-hour are calculated over many half-hours of that type.</a:t>
            </a:r>
          </a:p>
          <a:p>
            <a:pPr lvl="1"/>
            <a:r>
              <a:rPr lang="en-GB" dirty="0"/>
              <a:t>I.e., for persona 1, on a February weekday at 5PM-530PM, we have an estimate for their mean, median, 10</a:t>
            </a:r>
            <a:r>
              <a:rPr lang="en-GB" baseline="30000" dirty="0"/>
              <a:t>th</a:t>
            </a:r>
            <a:r>
              <a:rPr lang="en-GB" dirty="0"/>
              <a:t>, 25</a:t>
            </a:r>
            <a:r>
              <a:rPr lang="en-GB" baseline="30000" dirty="0"/>
              <a:t>th</a:t>
            </a:r>
            <a:r>
              <a:rPr lang="en-GB" dirty="0"/>
              <a:t>,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electricity import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This is calculated from all electricity import values for 5PM-530PM on February weekdays across many households of that persona type</a:t>
            </a:r>
          </a:p>
          <a:p>
            <a:r>
              <a:rPr lang="en-GB" dirty="0"/>
              <a:t>Likely that, even for one household, they will have electricity import well above and well below average in that period across different 5PM-530PM windows in February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59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FCCCB-1B5A-82F6-3742-4208A30C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5D75-AE25-1CCA-3751-6BD5E4E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flex or anti-flex?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C89A8-B27F-D691-1709-DF6F689A9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Mean import is useful as an </a:t>
            </a:r>
            <a:r>
              <a:rPr lang="en-GB" i="1" dirty="0"/>
              <a:t>expected value</a:t>
            </a:r>
            <a:r>
              <a:rPr lang="en-GB" dirty="0"/>
              <a:t> for calculating bills that do not vary day-to-day</a:t>
            </a:r>
          </a:p>
          <a:p>
            <a:r>
              <a:rPr lang="en-GB" dirty="0"/>
              <a:t>But for a wholesale-tracking tariff such as agile, it is less useful.</a:t>
            </a:r>
            <a:br>
              <a:rPr lang="en-GB" dirty="0"/>
            </a:br>
            <a:endParaRPr lang="en-GB" dirty="0"/>
          </a:p>
          <a:p>
            <a:r>
              <a:rPr lang="en-GB" dirty="0"/>
              <a:t>We cannot discount the possibility that a high agile price is the product of some other factor that would make a household import a higher-than-average amount of electricity that period</a:t>
            </a:r>
          </a:p>
          <a:p>
            <a:pPr lvl="1"/>
            <a:r>
              <a:rPr lang="en-GB" dirty="0"/>
              <a:t>I.e., a holiday day, a particularly cold night, a big football match, etc</a:t>
            </a:r>
          </a:p>
        </p:txBody>
      </p:sp>
    </p:spTree>
    <p:extLst>
      <p:ext uri="{BB962C8B-B14F-4D97-AF65-F5344CB8AC3E}">
        <p14:creationId xmlns:p14="http://schemas.microsoft.com/office/powerpoint/2010/main" val="159718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38DD-CB7C-2CEB-D2B5-983E36B6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0788-6309-527D-267C-191F9C82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flex or anti-flex?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F23C-FEAB-8826-3E85-6979CFC23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Conversely, the theory behind tariffs such as agile is that people respond to the price signal: </a:t>
            </a:r>
          </a:p>
          <a:p>
            <a:pPr lvl="1"/>
            <a:r>
              <a:rPr lang="en-GB" dirty="0"/>
              <a:t>by lowering import when expensive</a:t>
            </a:r>
          </a:p>
          <a:p>
            <a:pPr lvl="1"/>
            <a:r>
              <a:rPr lang="en-GB" dirty="0"/>
              <a:t>and by raising import when cheap</a:t>
            </a:r>
            <a:br>
              <a:rPr lang="en-GB" dirty="0"/>
            </a:br>
            <a:endParaRPr lang="en-GB" dirty="0"/>
          </a:p>
          <a:p>
            <a:r>
              <a:rPr lang="en-GB" dirty="0"/>
              <a:t>Two conflicting mechanisms at play, which make assumptions about import under agile pricing difficult to make</a:t>
            </a:r>
            <a:br>
              <a:rPr lang="en-GB" dirty="0"/>
            </a:br>
            <a:endParaRPr lang="en-GB" dirty="0"/>
          </a:p>
          <a:p>
            <a:r>
              <a:rPr lang="en-GB" dirty="0"/>
              <a:t>In a sense, using mean import under agile pricing could already be assuming a level of flexibility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737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A019-1D62-A70B-9B66-8E93F4BC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CF49-044A-7005-5CE5-C54C0F12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A67A4-27C9-082F-17F3-1E63AE58F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Because we have electricity import by percentiles, we can use this to model different flexibility scenarios.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Scenario 1: anti-flex / counter-flex</a:t>
            </a:r>
          </a:p>
          <a:p>
            <a:r>
              <a:rPr lang="en-GB" dirty="0"/>
              <a:t>Scenario 2: flex</a:t>
            </a:r>
          </a:p>
          <a:p>
            <a:r>
              <a:rPr lang="en-GB" dirty="0"/>
              <a:t>Scenario 3: turn-down only</a:t>
            </a:r>
          </a:p>
          <a:p>
            <a:r>
              <a:rPr lang="en-GB" dirty="0"/>
              <a:t>Scenario 4: turn-up only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282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3D6-B322-4455-E875-6B2FF3E3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CA29-6833-6D17-9014-627088F9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9EAE-42E4-C93A-4678-AE6D84039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1: anti-flex / counter-flex</a:t>
            </a:r>
          </a:p>
          <a:p>
            <a:pPr lvl="1"/>
            <a:r>
              <a:rPr lang="en-GB" dirty="0"/>
              <a:t>When the unit cost of agile is between the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(for that period), assume that, for each persona, their import is between the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(for that period).</a:t>
            </a:r>
          </a:p>
          <a:p>
            <a:pPr lvl="2"/>
            <a:r>
              <a:rPr lang="en-GB" dirty="0"/>
              <a:t>And similarly, import &gt;90</a:t>
            </a:r>
            <a:r>
              <a:rPr lang="en-GB" baseline="30000" dirty="0"/>
              <a:t>th</a:t>
            </a:r>
            <a:r>
              <a:rPr lang="en-GB" dirty="0"/>
              <a:t> percentile when agile &gt; 90</a:t>
            </a:r>
            <a:r>
              <a:rPr lang="en-GB" baseline="30000" dirty="0"/>
              <a:t>th</a:t>
            </a:r>
            <a:r>
              <a:rPr lang="en-GB" dirty="0"/>
              <a:t> percentile</a:t>
            </a:r>
          </a:p>
          <a:p>
            <a:pPr lvl="1"/>
            <a:r>
              <a:rPr lang="en-GB" dirty="0"/>
              <a:t>Any additional import created by this is “shifted” evenly across periods with a low agile unit cost.</a:t>
            </a:r>
          </a:p>
          <a:p>
            <a:pPr lvl="1"/>
            <a:r>
              <a:rPr lang="en-GB" dirty="0"/>
              <a:t>I.e., when agile is unusually </a:t>
            </a:r>
            <a:r>
              <a:rPr lang="en-GB" b="1" dirty="0"/>
              <a:t>expensive</a:t>
            </a:r>
            <a:r>
              <a:rPr lang="en-GB" dirty="0"/>
              <a:t>, import is unusually </a:t>
            </a:r>
            <a:r>
              <a:rPr lang="en-GB" b="1" dirty="0"/>
              <a:t>high</a:t>
            </a:r>
            <a:r>
              <a:rPr lang="en-GB" dirty="0"/>
              <a:t>, and vice versa.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244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2F0E-6D93-7B5A-2B30-F716B0A6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D96D-EC8D-C129-0A23-397EF2E8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6512-F40E-A6B7-BD04-0CD7D77A3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2: flex</a:t>
            </a:r>
          </a:p>
          <a:p>
            <a:pPr lvl="1"/>
            <a:r>
              <a:rPr lang="en-GB" dirty="0"/>
              <a:t>When the unit cost of agile is between the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(for that period), assume that, for each persona, their import is between the 25</a:t>
            </a:r>
            <a:r>
              <a:rPr lang="en-GB" baseline="30000" dirty="0"/>
              <a:t>th</a:t>
            </a:r>
            <a:r>
              <a:rPr lang="en-GB" dirty="0"/>
              <a:t> and 10</a:t>
            </a:r>
            <a:r>
              <a:rPr lang="en-GB" baseline="30000" dirty="0"/>
              <a:t>th</a:t>
            </a:r>
            <a:r>
              <a:rPr lang="en-GB" dirty="0"/>
              <a:t> percentile (for that period).</a:t>
            </a:r>
          </a:p>
          <a:p>
            <a:pPr lvl="2"/>
            <a:r>
              <a:rPr lang="en-GB" dirty="0"/>
              <a:t>And similarly, import &lt;10</a:t>
            </a:r>
            <a:r>
              <a:rPr lang="en-GB" baseline="30000" dirty="0"/>
              <a:t>th</a:t>
            </a:r>
            <a:r>
              <a:rPr lang="en-GB" dirty="0"/>
              <a:t> percentile when agile &gt; 90</a:t>
            </a:r>
            <a:r>
              <a:rPr lang="en-GB" baseline="30000" dirty="0"/>
              <a:t>th</a:t>
            </a:r>
            <a:r>
              <a:rPr lang="en-GB" dirty="0"/>
              <a:t> percentile</a:t>
            </a:r>
          </a:p>
          <a:p>
            <a:pPr lvl="1"/>
            <a:r>
              <a:rPr lang="en-GB" dirty="0"/>
              <a:t>Any reduction in import created by this is “shifted” evenly across periods with a low agile unit cost.</a:t>
            </a:r>
          </a:p>
          <a:p>
            <a:pPr lvl="1"/>
            <a:r>
              <a:rPr lang="en-GB" dirty="0"/>
              <a:t>I.e., when agile is unusually </a:t>
            </a:r>
            <a:r>
              <a:rPr lang="en-GB" b="1" dirty="0"/>
              <a:t>expensive</a:t>
            </a:r>
            <a:r>
              <a:rPr lang="en-GB" dirty="0"/>
              <a:t>, import is unusually </a:t>
            </a:r>
            <a:r>
              <a:rPr lang="en-GB" b="1" dirty="0"/>
              <a:t>low</a:t>
            </a:r>
            <a:r>
              <a:rPr lang="en-GB" dirty="0"/>
              <a:t>, and vice versa.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7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8DD0-1E3A-82CD-1DD6-9DA5652D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5910-8B49-3FA1-6A99-E7213997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677E-2780-B949-E2D4-B674B189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3: turn-up only</a:t>
            </a:r>
          </a:p>
          <a:p>
            <a:pPr lvl="1"/>
            <a:r>
              <a:rPr lang="en-GB" dirty="0"/>
              <a:t>Similar to scenario 2, except demand is </a:t>
            </a:r>
            <a:r>
              <a:rPr lang="en-GB" b="1" dirty="0"/>
              <a:t>created</a:t>
            </a:r>
            <a:r>
              <a:rPr lang="en-GB" dirty="0"/>
              <a:t> instead of </a:t>
            </a:r>
            <a:r>
              <a:rPr lang="en-GB" b="1" dirty="0"/>
              <a:t>shifted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When the unit cost of agile is between the 25</a:t>
            </a:r>
            <a:r>
              <a:rPr lang="en-GB" baseline="30000" dirty="0"/>
              <a:t>th</a:t>
            </a:r>
            <a:r>
              <a:rPr lang="en-GB" dirty="0"/>
              <a:t> and 10</a:t>
            </a:r>
            <a:r>
              <a:rPr lang="en-GB" baseline="30000" dirty="0"/>
              <a:t>th</a:t>
            </a:r>
            <a:r>
              <a:rPr lang="en-GB" dirty="0"/>
              <a:t> percentile (for that period), assume that, for each persona, their import is between the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(for that period).</a:t>
            </a:r>
          </a:p>
          <a:p>
            <a:pPr lvl="2"/>
            <a:r>
              <a:rPr lang="en-GB" dirty="0"/>
              <a:t>And similarly, import &gt;90</a:t>
            </a:r>
            <a:r>
              <a:rPr lang="en-GB" baseline="30000" dirty="0"/>
              <a:t>th</a:t>
            </a:r>
            <a:r>
              <a:rPr lang="en-GB" dirty="0"/>
              <a:t> percentile when agile &gt; 10</a:t>
            </a:r>
            <a:r>
              <a:rPr lang="en-GB" baseline="30000" dirty="0"/>
              <a:t>th</a:t>
            </a:r>
            <a:r>
              <a:rPr lang="en-GB" dirty="0"/>
              <a:t> percentile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When unit cost of agile is expensive, import is calculated as under scenario 1 (i.e., import is high)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I.e., when agile is unusually </a:t>
            </a:r>
            <a:r>
              <a:rPr lang="en-GB" b="1" dirty="0"/>
              <a:t>cheap</a:t>
            </a:r>
            <a:r>
              <a:rPr lang="en-GB" dirty="0"/>
              <a:t>, import is unusually </a:t>
            </a:r>
            <a:r>
              <a:rPr lang="en-GB" b="1" dirty="0"/>
              <a:t>high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7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25389-5CE1-6608-655D-64EB71E2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0568-7EE5-5285-E0AC-F63389D6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1DAD-E529-B222-6674-C90D93852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Scenario 4: turn-down only</a:t>
            </a:r>
          </a:p>
          <a:p>
            <a:pPr lvl="1"/>
            <a:r>
              <a:rPr lang="en-GB" dirty="0"/>
              <a:t>Similar to scenario 1, except demand is </a:t>
            </a:r>
            <a:r>
              <a:rPr lang="en-GB" b="1" dirty="0"/>
              <a:t>destroyed</a:t>
            </a:r>
            <a:r>
              <a:rPr lang="en-GB" dirty="0"/>
              <a:t> instead of </a:t>
            </a:r>
            <a:r>
              <a:rPr lang="en-GB" b="1" dirty="0"/>
              <a:t>shifted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When the unit cost of agile is between the 75</a:t>
            </a:r>
            <a:r>
              <a:rPr lang="en-GB" baseline="30000" dirty="0"/>
              <a:t>th</a:t>
            </a:r>
            <a:r>
              <a:rPr lang="en-GB" dirty="0"/>
              <a:t> and 90</a:t>
            </a:r>
            <a:r>
              <a:rPr lang="en-GB" baseline="30000" dirty="0"/>
              <a:t>th</a:t>
            </a:r>
            <a:r>
              <a:rPr lang="en-GB" dirty="0"/>
              <a:t> percentile (for that period), assume that, for each persona, their import is between the 25</a:t>
            </a:r>
            <a:r>
              <a:rPr lang="en-GB" baseline="30000" dirty="0"/>
              <a:t>th</a:t>
            </a:r>
            <a:r>
              <a:rPr lang="en-GB" dirty="0"/>
              <a:t> and 10</a:t>
            </a:r>
            <a:r>
              <a:rPr lang="en-GB" baseline="30000" dirty="0"/>
              <a:t>th</a:t>
            </a:r>
            <a:r>
              <a:rPr lang="en-GB" dirty="0"/>
              <a:t> percentile (for that period).</a:t>
            </a:r>
          </a:p>
          <a:p>
            <a:pPr lvl="2"/>
            <a:r>
              <a:rPr lang="en-GB" dirty="0"/>
              <a:t>And similarly, import &lt;10</a:t>
            </a:r>
            <a:r>
              <a:rPr lang="en-GB" baseline="30000" dirty="0"/>
              <a:t>th</a:t>
            </a:r>
            <a:r>
              <a:rPr lang="en-GB" dirty="0"/>
              <a:t> percentile when agile &gt;90</a:t>
            </a:r>
            <a:r>
              <a:rPr lang="en-GB" baseline="30000" dirty="0"/>
              <a:t>th</a:t>
            </a:r>
            <a:r>
              <a:rPr lang="en-GB" dirty="0"/>
              <a:t> percentile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When unit cost of agile is cheap, import is calculated as under scenario 1 (i.e., import is low)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I.e., when agile is unusually </a:t>
            </a:r>
            <a:r>
              <a:rPr lang="en-GB" b="1" dirty="0"/>
              <a:t>expensive</a:t>
            </a:r>
            <a:r>
              <a:rPr lang="en-GB" dirty="0"/>
              <a:t>, import is unusually </a:t>
            </a:r>
            <a:r>
              <a:rPr lang="en-GB" b="1" dirty="0"/>
              <a:t>low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682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DC2F-1453-03F4-5661-BB80C3E9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6D7C-F02B-78DE-CC35-35840D02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EA8717-2C6B-7AEA-0DBA-BDFED0A97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285126"/>
              </p:ext>
            </p:extLst>
          </p:nvPr>
        </p:nvGraphicFramePr>
        <p:xfrm>
          <a:off x="1755648" y="1690688"/>
          <a:ext cx="9372600" cy="4230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616">
                  <a:extLst>
                    <a:ext uri="{9D8B030D-6E8A-4147-A177-3AD203B41FA5}">
                      <a16:colId xmlns:a16="http://schemas.microsoft.com/office/drawing/2014/main" val="3007408179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352218213"/>
                    </a:ext>
                  </a:extLst>
                </a:gridCol>
                <a:gridCol w="3140964">
                  <a:extLst>
                    <a:ext uri="{9D8B030D-6E8A-4147-A177-3AD203B41FA5}">
                      <a16:colId xmlns:a16="http://schemas.microsoft.com/office/drawing/2014/main" val="752732771"/>
                    </a:ext>
                  </a:extLst>
                </a:gridCol>
                <a:gridCol w="3140964">
                  <a:extLst>
                    <a:ext uri="{9D8B030D-6E8A-4147-A177-3AD203B41FA5}">
                      <a16:colId xmlns:a16="http://schemas.microsoft.com/office/drawing/2014/main" val="2357702555"/>
                    </a:ext>
                  </a:extLst>
                </a:gridCol>
              </a:tblGrid>
              <a:tr h="652188">
                <a:tc rowSpan="2" grid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Import is (atypically)…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83185"/>
                  </a:ext>
                </a:extLst>
              </a:tr>
              <a:tr h="652188">
                <a:tc gridSpan="2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941686"/>
                  </a:ext>
                </a:extLst>
              </a:tr>
              <a:tr h="652188">
                <a:tc rowSpan="2">
                  <a:txBody>
                    <a:bodyPr/>
                    <a:lstStyle/>
                    <a:p>
                      <a:r>
                        <a:rPr lang="en-GB" dirty="0"/>
                        <a:t>Agile is (atypically)…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Scenario 1: Anti-Flex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Scenario 4: Turn-down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  <a:p>
                      <a:pPr algn="ctr"/>
                      <a:r>
                        <a:rPr lang="en-GB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Scenario 2: Flex</a:t>
                      </a:r>
                    </a:p>
                    <a:p>
                      <a:pPr algn="ctr"/>
                      <a:endParaRPr lang="en-GB" b="1" dirty="0"/>
                    </a:p>
                    <a:p>
                      <a:pPr algn="ctr"/>
                      <a:r>
                        <a:rPr lang="en-GB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Scenario 3: Turn-up</a:t>
                      </a:r>
                    </a:p>
                    <a:p>
                      <a:pPr algn="ctr"/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66355"/>
                  </a:ext>
                </a:extLst>
              </a:tr>
              <a:tr h="65218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  <a:p>
                      <a:pPr algn="ctr"/>
                      <a:r>
                        <a:rPr lang="en-GB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Scenario 2: Flex</a:t>
                      </a:r>
                    </a:p>
                    <a:p>
                      <a:pPr algn="ctr"/>
                      <a:endParaRPr lang="en-GB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Scenario 4: Turn-down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  <a:p>
                      <a:pPr algn="ctr"/>
                      <a:r>
                        <a:rPr lang="en-GB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Scenario 1: Anti-Flex</a:t>
                      </a:r>
                    </a:p>
                    <a:p>
                      <a:pPr algn="ctr"/>
                      <a:endParaRPr lang="en-GB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Scenario 3: Turn-up</a:t>
                      </a:r>
                    </a:p>
                    <a:p>
                      <a:pPr algn="ctr"/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513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016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7EB4-B8E7-E4E5-1101-9363088A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782F2-8A91-BBFE-1388-EFDA53A5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example flexing behaviours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C6B475-371F-84F7-4B6E-B077E50EC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806897"/>
              </p:ext>
            </p:extLst>
          </p:nvPr>
        </p:nvGraphicFramePr>
        <p:xfrm>
          <a:off x="711202" y="2420450"/>
          <a:ext cx="10642599" cy="267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7921">
                  <a:extLst>
                    <a:ext uri="{9D8B030D-6E8A-4147-A177-3AD203B41FA5}">
                      <a16:colId xmlns:a16="http://schemas.microsoft.com/office/drawing/2014/main" val="1804684359"/>
                    </a:ext>
                  </a:extLst>
                </a:gridCol>
                <a:gridCol w="2578226">
                  <a:extLst>
                    <a:ext uri="{9D8B030D-6E8A-4147-A177-3AD203B41FA5}">
                      <a16:colId xmlns:a16="http://schemas.microsoft.com/office/drawing/2014/main" val="3983589573"/>
                    </a:ext>
                  </a:extLst>
                </a:gridCol>
                <a:gridCol w="2578226">
                  <a:extLst>
                    <a:ext uri="{9D8B030D-6E8A-4147-A177-3AD203B41FA5}">
                      <a16:colId xmlns:a16="http://schemas.microsoft.com/office/drawing/2014/main" val="898514672"/>
                    </a:ext>
                  </a:extLst>
                </a:gridCol>
                <a:gridCol w="2578226">
                  <a:extLst>
                    <a:ext uri="{9D8B030D-6E8A-4147-A177-3AD203B41FA5}">
                      <a16:colId xmlns:a16="http://schemas.microsoft.com/office/drawing/2014/main" val="903039947"/>
                    </a:ext>
                  </a:extLst>
                </a:gridCol>
              </a:tblGrid>
              <a:tr h="419270">
                <a:tc>
                  <a:txBody>
                    <a:bodyPr/>
                    <a:lstStyle/>
                    <a:p>
                      <a:r>
                        <a:rPr lang="en-GB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When agile is (atypically) </a:t>
                      </a:r>
                      <a:r>
                        <a:rPr lang="en-GB" b="1" dirty="0"/>
                        <a:t>cheap</a:t>
                      </a:r>
                      <a:r>
                        <a:rPr lang="en-GB" b="0" dirty="0"/>
                        <a:t>, import is (atypically)  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When agile is (atypically) </a:t>
                      </a:r>
                      <a:r>
                        <a:rPr lang="en-GB" b="1" dirty="0"/>
                        <a:t>expensive</a:t>
                      </a:r>
                      <a:r>
                        <a:rPr lang="en-GB" b="0" dirty="0"/>
                        <a:t>, import is (atypically)…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Is total yearly import preserved? (i.e., = total yearly </a:t>
                      </a:r>
                      <a:r>
                        <a:rPr lang="en-GB" b="1" dirty="0"/>
                        <a:t>mean</a:t>
                      </a:r>
                      <a:r>
                        <a:rPr lang="en-GB" b="0" dirty="0"/>
                        <a:t> import?)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1: Anti-Flex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2: 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45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3: Turn-up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High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 (higher)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2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4: Turn-down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 (lower)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270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204F2-6511-CD0A-8C5C-7DE40264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yearly bills per persona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78E7F8-C196-6FA7-6585-3DB1289FB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890875"/>
              </p:ext>
            </p:extLst>
          </p:nvPr>
        </p:nvGraphicFramePr>
        <p:xfrm>
          <a:off x="765048" y="634619"/>
          <a:ext cx="10515603" cy="506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5119877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6243190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736365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4681982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5980254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924721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96152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Persona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Baselines: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GB" dirty="0"/>
                        <a:t>Yearly bills (inc. standing charges) under flexibility scenario…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564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Yearly bills under Octopus fixed-tariff Jan 2024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Agile, </a:t>
                      </a:r>
                    </a:p>
                    <a:p>
                      <a:r>
                        <a:rPr lang="en-GB" sz="1400" dirty="0"/>
                        <a:t>with mean import for all periods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1: Anti-Flex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2: Flex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3: Turn-up only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4: Turn-down only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60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1: Electric night storage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£1556*</a:t>
                      </a:r>
                    </a:p>
                    <a:p>
                      <a:pPr algn="ctr"/>
                      <a:r>
                        <a:rPr lang="en-GB" sz="1400" dirty="0"/>
                        <a:t>* Economy 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£1194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1241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1118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1526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831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05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2: Single retired person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£750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£598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607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585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669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07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3: EV &amp; PV</a:t>
                      </a:r>
                      <a:endParaRPr lang="en-GB" sz="1200" dirty="0"/>
                    </a:p>
                    <a:p>
                      <a:r>
                        <a:rPr lang="en-GB" sz="1200" dirty="0"/>
                        <a:t>* Export calculated using Agile Export pricing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 dirty="0"/>
                        <a:t>Import: £1679</a:t>
                      </a:r>
                    </a:p>
                    <a:p>
                      <a:pPr algn="ctr"/>
                      <a:r>
                        <a:rPr lang="en-GB" sz="1400" i="1" dirty="0"/>
                        <a:t>Export: £245</a:t>
                      </a:r>
                    </a:p>
                    <a:p>
                      <a:pPr algn="ctr"/>
                      <a:r>
                        <a:rPr lang="en-GB" sz="1400" dirty="0"/>
                        <a:t>Net: £1434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Import: £1236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Export: £127 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Net: £1109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Import: £1271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Export: £127 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Net: £1144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Import: £1176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Export: £127 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Net: £1049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Import: £1524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Export: £127 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Net: £1397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Import: £924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Export: £127 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Net: £797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6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4: Large gas family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£1423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£1122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1095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1284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953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71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5: EV &amp; HP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£2843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£2117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2185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2022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2642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1564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63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448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FB49-42B4-6C0F-2EB8-1F8E88D5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9604-09A6-582C-D7DD-C0C14FA4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comparison: yearly bills per persona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E0FE66-E976-9972-E4C9-6F965848D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419288"/>
              </p:ext>
            </p:extLst>
          </p:nvPr>
        </p:nvGraphicFramePr>
        <p:xfrm>
          <a:off x="1289304" y="1905635"/>
          <a:ext cx="846734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2448">
                  <a:extLst>
                    <a:ext uri="{9D8B030D-6E8A-4147-A177-3AD203B41FA5}">
                      <a16:colId xmlns:a16="http://schemas.microsoft.com/office/drawing/2014/main" val="3511987752"/>
                    </a:ext>
                  </a:extLst>
                </a:gridCol>
                <a:gridCol w="2822448">
                  <a:extLst>
                    <a:ext uri="{9D8B030D-6E8A-4147-A177-3AD203B41FA5}">
                      <a16:colId xmlns:a16="http://schemas.microsoft.com/office/drawing/2014/main" val="2680388374"/>
                    </a:ext>
                  </a:extLst>
                </a:gridCol>
                <a:gridCol w="2822448">
                  <a:extLst>
                    <a:ext uri="{9D8B030D-6E8A-4147-A177-3AD203B41FA5}">
                      <a16:colId xmlns:a16="http://schemas.microsoft.com/office/drawing/2014/main" val="396449562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Persona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b="1" dirty="0"/>
                        <a:t>Range of yearly Agile bills under different scenarios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5642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Turn-down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Turn-up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1: Electric night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05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2: Single retired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07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3: EV &amp;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1397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4: Large gas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1284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071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5: EV &amp;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2642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963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208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9760-7295-7AC3-7B57-68488C98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67C33-30A1-094A-EE47-C14CFCC4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334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152D-5C93-D51C-3A73-D2C8DB83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 1 optimal tariff (ES)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C819F-F6CB-1C79-7E0B-738E32370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Economy 7</a:t>
            </a:r>
          </a:p>
          <a:p>
            <a:r>
              <a:rPr lang="en-GB" dirty="0"/>
              <a:t>Intelligent Economy 7 (snug?)</a:t>
            </a:r>
          </a:p>
          <a:p>
            <a:r>
              <a:rPr lang="en-GB" dirty="0"/>
              <a:t>Other Economy 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B970B3-663E-658B-4D47-BA89EB2B1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7897"/>
              </p:ext>
            </p:extLst>
          </p:nvPr>
        </p:nvGraphicFramePr>
        <p:xfrm>
          <a:off x="838200" y="1397635"/>
          <a:ext cx="10369292" cy="509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323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2592323">
                  <a:extLst>
                    <a:ext uri="{9D8B030D-6E8A-4147-A177-3AD203B41FA5}">
                      <a16:colId xmlns:a16="http://schemas.microsoft.com/office/drawing/2014/main" val="2497708806"/>
                    </a:ext>
                  </a:extLst>
                </a:gridCol>
                <a:gridCol w="2592323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2592323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Electricity bill*</a:t>
                      </a:r>
                    </a:p>
                    <a:p>
                      <a:br>
                        <a:rPr lang="en-GB" dirty="0"/>
                      </a:br>
                      <a:r>
                        <a:rPr lang="en-GB" dirty="0"/>
                        <a:t>* Between Nov 2024 and Mar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Octopus Fixed 12M Nov 2024 Economy 7 (</a:t>
                      </a:r>
                      <a:r>
                        <a:rPr lang="en-GB" i="1" dirty="0"/>
                        <a:t>baseline</a:t>
                      </a:r>
                      <a:r>
                        <a:rPr lang="en-GB" i="0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Fixed rate economy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Octopus Fixed 12M Nov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Fixed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+£87 (+12%)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Snug Octopus</a:t>
                      </a: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Intelligent economy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£656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-£65 (-9%)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BG Dimplex Quantum Tariff*</a:t>
                      </a:r>
                    </a:p>
                    <a:p>
                      <a:endParaRPr lang="en-GB" dirty="0"/>
                    </a:p>
                    <a:p>
                      <a:r>
                        <a:rPr lang="en-GB" sz="1400" dirty="0"/>
                        <a:t>* Assuming same day rate as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Fixed rate e</a:t>
                      </a:r>
                      <a:r>
                        <a:rPr lang="en-GB" sz="1800" dirty="0"/>
                        <a:t>conomy 7</a:t>
                      </a:r>
                    </a:p>
                    <a:p>
                      <a:endParaRPr lang="en-GB" sz="1400" dirty="0"/>
                    </a:p>
                    <a:p>
                      <a:r>
                        <a:rPr lang="en-GB" sz="1400" dirty="0"/>
                        <a:t>Requires installation of specific model(s) of storage heater. Costs ~£900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-£164 (-23%)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7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1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76B1-C878-4540-8E1C-14894DB5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 2 optimal tariff (G10p)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FB0A-27CE-03BC-1C81-68547E257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?????????????????????????????????</a:t>
            </a:r>
          </a:p>
          <a:p>
            <a:r>
              <a:rPr lang="en-GB" dirty="0"/>
              <a:t>Prepayment meter tariff</a:t>
            </a:r>
          </a:p>
          <a:p>
            <a:pPr lvl="1"/>
            <a:r>
              <a:rPr lang="en-GB" dirty="0"/>
              <a:t>Octopus PAYG</a:t>
            </a:r>
          </a:p>
          <a:p>
            <a:pPr lvl="1"/>
            <a:r>
              <a:rPr lang="en-GB" dirty="0"/>
              <a:t>Octopus flex PAYG</a:t>
            </a:r>
          </a:p>
          <a:p>
            <a:pPr lvl="1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C78B8-F4DE-EC38-BF67-EBE16B9ED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748143"/>
              </p:ext>
            </p:extLst>
          </p:nvPr>
        </p:nvGraphicFramePr>
        <p:xfrm>
          <a:off x="1628503" y="1807337"/>
          <a:ext cx="8127999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Electricity bill </a:t>
                      </a:r>
                    </a:p>
                    <a:p>
                      <a:r>
                        <a:rPr lang="en-GB" dirty="0"/>
                        <a:t>(yearly,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Octopus Fixed 12M Feb 2024 (</a:t>
                      </a:r>
                      <a:r>
                        <a:rPr lang="en-GB" i="1" dirty="0"/>
                        <a:t>baseline</a:t>
                      </a:r>
                      <a:r>
                        <a:rPr lang="en-GB" i="0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Flexible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-£17 (-2%)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94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Octopus PAYG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£712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-£38 (-4%)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Octopus Flex PAYG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£712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-£38 (-4%)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BG ‘</a:t>
                      </a:r>
                      <a:r>
                        <a:rPr lang="en-GB" dirty="0" err="1"/>
                        <a:t>PeakSave</a:t>
                      </a:r>
                      <a:r>
                        <a:rPr lang="en-GB" dirty="0"/>
                        <a:t>’ Sundays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-£9 (-1%)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BG ‘</a:t>
                      </a:r>
                      <a:r>
                        <a:rPr lang="en-GB" dirty="0" err="1"/>
                        <a:t>PeakSave</a:t>
                      </a:r>
                      <a:r>
                        <a:rPr lang="en-GB" dirty="0"/>
                        <a:t>’ Sundays: </a:t>
                      </a:r>
                      <a:r>
                        <a:rPr lang="en-GB" sz="1400" dirty="0"/>
                        <a:t>50% of Saturday demand shifted to ‘</a:t>
                      </a:r>
                      <a:r>
                        <a:rPr lang="en-GB" sz="1400" dirty="0" err="1"/>
                        <a:t>PeakSave</a:t>
                      </a:r>
                      <a:r>
                        <a:rPr lang="en-GB" sz="1400" dirty="0"/>
                        <a:t>’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-£28 (-3%)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0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834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2779-1CD4-E6A2-B1AD-7A7D3A8B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7545-3E86-DFBF-5C99-2BC12C5A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 3 optimal tariff (VX)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D881-0FE6-203E-9478-6CC7DC3A6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Octopus GO</a:t>
            </a:r>
          </a:p>
          <a:p>
            <a:r>
              <a:rPr lang="en-GB" dirty="0"/>
              <a:t>Octopus import-export</a:t>
            </a:r>
          </a:p>
          <a:p>
            <a:r>
              <a:rPr lang="en-GB" dirty="0"/>
              <a:t>SEG tariff</a:t>
            </a:r>
          </a:p>
          <a:p>
            <a:r>
              <a:rPr lang="en-GB" dirty="0"/>
              <a:t>….?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45171A-64E8-7550-7CD6-E1D5D323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66058"/>
              </p:ext>
            </p:extLst>
          </p:nvPr>
        </p:nvGraphicFramePr>
        <p:xfrm>
          <a:off x="838200" y="1453424"/>
          <a:ext cx="10199915" cy="5039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326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2265326">
                  <a:extLst>
                    <a:ext uri="{9D8B030D-6E8A-4147-A177-3AD203B41FA5}">
                      <a16:colId xmlns:a16="http://schemas.microsoft.com/office/drawing/2014/main" val="3524869524"/>
                    </a:ext>
                  </a:extLst>
                </a:gridCol>
                <a:gridCol w="1424249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1424249">
                  <a:extLst>
                    <a:ext uri="{9D8B030D-6E8A-4147-A177-3AD203B41FA5}">
                      <a16:colId xmlns:a16="http://schemas.microsoft.com/office/drawing/2014/main" val="917991536"/>
                    </a:ext>
                  </a:extLst>
                </a:gridCol>
                <a:gridCol w="1424249">
                  <a:extLst>
                    <a:ext uri="{9D8B030D-6E8A-4147-A177-3AD203B41FA5}">
                      <a16:colId xmlns:a16="http://schemas.microsoft.com/office/drawing/2014/main" val="2525718648"/>
                    </a:ext>
                  </a:extLst>
                </a:gridCol>
                <a:gridCol w="1396516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GB" sz="1600" dirty="0"/>
                        <a:t>Tariff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r>
                        <a:rPr lang="en-GB" sz="1600" dirty="0"/>
                        <a:t>Electricity bill (yearly, 2024)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GB" sz="1600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sz="1600" b="1" dirty="0"/>
                        <a:t>Import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600" b="1" dirty="0"/>
                        <a:t>Export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31641"/>
                  </a:ext>
                </a:extLst>
              </a:tr>
              <a:tr h="48777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i="0" dirty="0"/>
                        <a:t>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i="0" dirty="0"/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i="0" dirty="0"/>
                        <a:t>Net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18623"/>
                  </a:ext>
                </a:extLst>
              </a:tr>
              <a:tr h="487771">
                <a:tc>
                  <a:txBody>
                    <a:bodyPr/>
                    <a:lstStyle/>
                    <a:p>
                      <a:r>
                        <a:rPr lang="en-GB" sz="1600" dirty="0"/>
                        <a:t>Octopus Fixed 12M Feb </a:t>
                      </a:r>
                    </a:p>
                    <a:p>
                      <a:r>
                        <a:rPr lang="en-GB" sz="1600" dirty="0"/>
                        <a:t>2024</a:t>
                      </a:r>
                    </a:p>
                    <a:p>
                      <a:r>
                        <a:rPr lang="en-GB" sz="1600" dirty="0"/>
                        <a:t>(</a:t>
                      </a:r>
                      <a:r>
                        <a:rPr lang="en-GB" sz="1600" i="1" dirty="0"/>
                        <a:t>baseline</a:t>
                      </a:r>
                      <a:r>
                        <a:rPr lang="en-GB" sz="1600" i="0" dirty="0"/>
                        <a:t>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Octopus SEG Feb 2023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(</a:t>
                      </a:r>
                      <a:r>
                        <a:rPr lang="en-GB" sz="1600" i="1" dirty="0"/>
                        <a:t>baseline</a:t>
                      </a:r>
                      <a:r>
                        <a:rPr lang="en-GB" sz="1600" i="0" dirty="0"/>
                        <a:t>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i="1" dirty="0"/>
                        <a:t>£1679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i="1" dirty="0"/>
                        <a:t>£245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Go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(Octopus) Fixed Outgoing 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i="1" dirty="0"/>
                        <a:t>£1395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/>
                        <a:t>£131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-£170 (-12%)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Octopus Flux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i="1" dirty="0"/>
                        <a:t>£1570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/>
                        <a:t>£266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-£130 (-9%)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0" dirty="0"/>
                        <a:t>Octopus Intelligent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Octopus Intelligent Flux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i="1" dirty="0"/>
                        <a:t>£1506</a:t>
                      </a:r>
                      <a:endParaRPr lang="en-GB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1" dirty="0"/>
                        <a:t>£370</a:t>
                      </a:r>
                    </a:p>
                    <a:p>
                      <a:endParaRPr lang="en-GB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£1136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-£298 (-21%)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0" dirty="0"/>
                        <a:t>OVO Charge Anytime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OVO SEG Beyond Exclusive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£1196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-£465 (-32%)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5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0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8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756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2FA9-459C-4909-A989-0435C37E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 3 optimal tariff (VX)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BBC7-AFD6-76CE-D83A-3721A246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4A96BB-C385-FF8F-E735-A04904194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40855"/>
              </p:ext>
            </p:extLst>
          </p:nvPr>
        </p:nvGraphicFramePr>
        <p:xfrm>
          <a:off x="968601" y="1418209"/>
          <a:ext cx="10254798" cy="442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998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3159998">
                  <a:extLst>
                    <a:ext uri="{9D8B030D-6E8A-4147-A177-3AD203B41FA5}">
                      <a16:colId xmlns:a16="http://schemas.microsoft.com/office/drawing/2014/main" val="3524869524"/>
                    </a:ext>
                  </a:extLst>
                </a:gridCol>
                <a:gridCol w="889326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889326">
                  <a:extLst>
                    <a:ext uri="{9D8B030D-6E8A-4147-A177-3AD203B41FA5}">
                      <a16:colId xmlns:a16="http://schemas.microsoft.com/office/drawing/2014/main" val="3851889436"/>
                    </a:ext>
                  </a:extLst>
                </a:gridCol>
                <a:gridCol w="889326">
                  <a:extLst>
                    <a:ext uri="{9D8B030D-6E8A-4147-A177-3AD203B41FA5}">
                      <a16:colId xmlns:a16="http://schemas.microsoft.com/office/drawing/2014/main" val="3737197990"/>
                    </a:ext>
                  </a:extLst>
                </a:gridCol>
                <a:gridCol w="1266824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12783">
                <a:tc gridSpan="2">
                  <a:txBody>
                    <a:bodyPr/>
                    <a:lstStyle/>
                    <a:p>
                      <a:r>
                        <a:rPr lang="en-GB" sz="1400" dirty="0"/>
                        <a:t>Tariff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r>
                        <a:rPr lang="en-GB" sz="1400" dirty="0"/>
                        <a:t>Electricity bill </a:t>
                      </a:r>
                    </a:p>
                    <a:p>
                      <a:r>
                        <a:rPr lang="en-GB" sz="1400" dirty="0"/>
                        <a:t>(Nov 2024 – Mar 2025)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GB" sz="1400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24077"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Export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316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Net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83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Octopus Fixed 12M Feb </a:t>
                      </a:r>
                    </a:p>
                    <a:p>
                      <a:r>
                        <a:rPr lang="en-GB" sz="1400" dirty="0"/>
                        <a:t>2024</a:t>
                      </a:r>
                    </a:p>
                    <a:p>
                      <a:r>
                        <a:rPr lang="en-GB" sz="1400" dirty="0"/>
                        <a:t>(</a:t>
                      </a:r>
                      <a:r>
                        <a:rPr lang="en-GB" sz="1400" i="1" dirty="0"/>
                        <a:t>baseline</a:t>
                      </a:r>
                      <a:r>
                        <a:rPr lang="en-GB" sz="1400" i="0" dirty="0"/>
                        <a:t>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Octopus Fixed Outgoing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(</a:t>
                      </a:r>
                      <a:r>
                        <a:rPr lang="en-GB" sz="1400" i="1" dirty="0"/>
                        <a:t>baseline</a:t>
                      </a:r>
                      <a:r>
                        <a:rPr lang="en-GB" sz="1400" i="0" dirty="0"/>
                        <a:t>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i="1" dirty="0"/>
                        <a:t>£729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i="1" dirty="0"/>
                        <a:t>£39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£690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Octopus Flux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Octopus Flux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i="1" dirty="0"/>
                        <a:t>£775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i="1" dirty="0"/>
                        <a:t>£35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£740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+£50 (+2%)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0" dirty="0"/>
                        <a:t>Octopus Intelligent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dirty="0"/>
                        <a:t>Octopus Intelligent Flux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1" dirty="0"/>
                        <a:t>£736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1" dirty="0"/>
                        <a:t>£58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£678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-£51 (-2%)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r>
                        <a:rPr lang="en-GB" sz="1400" dirty="0"/>
                        <a:t>Octopus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(Octopus) Fixed Outgoing 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i="1" dirty="0"/>
                        <a:t>£681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i="1" dirty="0"/>
                        <a:t>£21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£660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-£30 (-4%)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33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 dirty="0"/>
                        <a:t>Octopus Intelligent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(Octopus) Fixed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i="1" dirty="0"/>
                        <a:t>£646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i="1" dirty="0"/>
                        <a:t>£39</a:t>
                      </a:r>
                    </a:p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£607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-£83 (-12%)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10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 dirty="0"/>
                        <a:t>‘Octopus-Electric-Vehicle’ Octopus Intelligent Go – EV Saver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(Octopus) Fixed Outgoing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i="1" dirty="0"/>
                        <a:t>£638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i="1" dirty="0"/>
                        <a:t>£39</a:t>
                      </a:r>
                    </a:p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£599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-£91 (-13%)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13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0" dirty="0"/>
                        <a:t>OVO Charge Anytime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dirty="0"/>
                        <a:t>OVO SEG Beyond Exclusive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1" dirty="0"/>
                        <a:t>£628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£48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£580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-£110 (-16%)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11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8354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C83C-BB96-7072-FB00-185AA6228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 4 optimal tariff (G22)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EA6BA-6D9C-F197-2274-4EB92D653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?????????????</a:t>
            </a:r>
          </a:p>
          <a:p>
            <a:r>
              <a:rPr lang="en-GB" dirty="0"/>
              <a:t>Find some generic TOUT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97C8B-A03D-F449-5D43-FCF6F0343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70337"/>
              </p:ext>
            </p:extLst>
          </p:nvPr>
        </p:nvGraphicFramePr>
        <p:xfrm>
          <a:off x="1078846" y="1690688"/>
          <a:ext cx="1003430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577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2508577">
                  <a:extLst>
                    <a:ext uri="{9D8B030D-6E8A-4147-A177-3AD203B41FA5}">
                      <a16:colId xmlns:a16="http://schemas.microsoft.com/office/drawing/2014/main" val="1127382764"/>
                    </a:ext>
                  </a:extLst>
                </a:gridCol>
                <a:gridCol w="2508577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2508577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Electricity bill </a:t>
                      </a:r>
                    </a:p>
                    <a:p>
                      <a:r>
                        <a:rPr lang="en-GB" dirty="0"/>
                        <a:t>(yearly,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Octopus Fixed 12M Feb 2024 (</a:t>
                      </a:r>
                      <a:r>
                        <a:rPr lang="en-GB" i="1" dirty="0"/>
                        <a:t>baseline</a:t>
                      </a:r>
                      <a:r>
                        <a:rPr lang="en-GB" i="0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Flexible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-£66 (-5%)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BG ‘</a:t>
                      </a:r>
                      <a:r>
                        <a:rPr lang="en-GB" dirty="0" err="1"/>
                        <a:t>PeakSave</a:t>
                      </a:r>
                      <a:r>
                        <a:rPr lang="en-GB" dirty="0"/>
                        <a:t>’ Sundays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Half-price electricity on Sundays 11AM to 4PM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-£24 (-2%)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BG ‘</a:t>
                      </a:r>
                      <a:r>
                        <a:rPr lang="en-GB" dirty="0" err="1"/>
                        <a:t>PeakSave</a:t>
                      </a:r>
                      <a:r>
                        <a:rPr lang="en-GB" dirty="0"/>
                        <a:t>’ Sundays: </a:t>
                      </a:r>
                    </a:p>
                    <a:p>
                      <a:r>
                        <a:rPr lang="en-GB" sz="1400" dirty="0"/>
                        <a:t>50% of Saturday demand shifted to ‘</a:t>
                      </a:r>
                      <a:r>
                        <a:rPr lang="en-GB" sz="1400" dirty="0" err="1"/>
                        <a:t>PeakSave</a:t>
                      </a:r>
                      <a:r>
                        <a:rPr lang="en-GB" sz="1400" dirty="0"/>
                        <a:t>’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Half-price electricity on Sundays 11AM to 4PM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£1354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-£69 (-5%)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7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4263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69F0-D71D-3EEB-3C83-02DC80A5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2957-7A0D-7375-104F-3F42B925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7975"/>
            <a:ext cx="10515600" cy="1325563"/>
          </a:xfrm>
        </p:spPr>
        <p:txBody>
          <a:bodyPr/>
          <a:lstStyle/>
          <a:p>
            <a:r>
              <a:rPr lang="en-GB" dirty="0"/>
              <a:t>Persona 5 optimal tariff (HP + EV)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F41F-3F7A-4EBF-6096-F97ABA461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Heat pump TOUT</a:t>
            </a:r>
          </a:p>
          <a:p>
            <a:r>
              <a:rPr lang="en-GB" dirty="0"/>
              <a:t>Heat pump </a:t>
            </a:r>
            <a:r>
              <a:rPr lang="en-GB" dirty="0" err="1"/>
              <a:t>TypeOUT</a:t>
            </a:r>
            <a:endParaRPr lang="en-GB" dirty="0"/>
          </a:p>
          <a:p>
            <a:r>
              <a:rPr lang="en-GB" dirty="0"/>
              <a:t>Heat pump TOUT (no peaks)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7F7097-E5C2-4E52-723D-32A3DFC6B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589117"/>
              </p:ext>
            </p:extLst>
          </p:nvPr>
        </p:nvGraphicFramePr>
        <p:xfrm>
          <a:off x="838200" y="681037"/>
          <a:ext cx="10317336" cy="62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1930836">
                  <a:extLst>
                    <a:ext uri="{9D8B030D-6E8A-4147-A177-3AD203B41FA5}">
                      <a16:colId xmlns:a16="http://schemas.microsoft.com/office/drawing/2014/main" val="1828889100"/>
                    </a:ext>
                  </a:extLst>
                </a:gridCol>
                <a:gridCol w="2579334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2579334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Electricity bill (yearly,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Fixed 12M Feb 2024 (</a:t>
                      </a:r>
                      <a:r>
                        <a:rPr lang="en-GB" sz="1600" i="1" dirty="0"/>
                        <a:t>baseline</a:t>
                      </a:r>
                      <a:r>
                        <a:rPr lang="en-GB" sz="1600" i="0" dirty="0"/>
                        <a:t>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Fixed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£2843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Flexible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Variable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£2701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-£142 (-5%)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Agile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Half-hourly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£1564 - £2642 * 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200" dirty="0"/>
                        <a:t>* Depending on level of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-£1,279 to -£201 </a:t>
                      </a:r>
                    </a:p>
                    <a:p>
                      <a:r>
                        <a:rPr lang="en-GB" sz="1600" dirty="0"/>
                        <a:t>(-45% to -7%)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88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Cosy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Time-of-use: heat-pump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£2581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-£262 (-9%)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Time-of-use: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£2541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-£302 (-11%)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b="0" dirty="0"/>
                        <a:t>OVO Charge Anytime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Type-of-use: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£2348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-£452 (-16%)*</a:t>
                      </a:r>
                    </a:p>
                    <a:p>
                      <a:endParaRPr lang="en-GB" sz="16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OVO Heat Pump Plus*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200" dirty="0"/>
                        <a:t>* Not taking new customers at time of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Type-of-use: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£2415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-£385 (-14%)*</a:t>
                      </a:r>
                      <a:endParaRPr lang="en-GB" sz="1600" b="0" dirty="0"/>
                    </a:p>
                    <a:p>
                      <a:endParaRPr lang="en-GB" sz="12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36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OVO Charge Anytime + Heat Pump Plus*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200" dirty="0"/>
                        <a:t>*Not clear if it is possible to combine these two add-ons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Type-of-use: HP &amp; EV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-£837 (-30%) *</a:t>
                      </a:r>
                      <a:endParaRPr lang="en-GB" sz="1600" b="0" dirty="0"/>
                    </a:p>
                    <a:p>
                      <a:endParaRPr lang="en-GB" sz="12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3813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BADA-BB88-3784-4DF9-8C875C36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C86E-C9CA-3ACE-E24E-03923B76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7975"/>
            <a:ext cx="10515600" cy="1325563"/>
          </a:xfrm>
        </p:spPr>
        <p:txBody>
          <a:bodyPr/>
          <a:lstStyle/>
          <a:p>
            <a:r>
              <a:rPr lang="en-GB" dirty="0"/>
              <a:t>Persona 5 optimal tariff (HP + EV)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18E4-DAE4-563B-32EC-233CD82B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Heat pump TOUT</a:t>
            </a:r>
          </a:p>
          <a:p>
            <a:r>
              <a:rPr lang="en-GB" dirty="0"/>
              <a:t>Heat pump </a:t>
            </a:r>
            <a:r>
              <a:rPr lang="en-GB" dirty="0" err="1"/>
              <a:t>TypeOUT</a:t>
            </a:r>
            <a:endParaRPr lang="en-GB" dirty="0"/>
          </a:p>
          <a:p>
            <a:r>
              <a:rPr lang="en-GB" dirty="0"/>
              <a:t>Heat pump TOUT (no peaks)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A5AF1F-0CC0-B2BE-ECD5-78B39973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057416"/>
              </p:ext>
            </p:extLst>
          </p:nvPr>
        </p:nvGraphicFramePr>
        <p:xfrm>
          <a:off x="838200" y="681037"/>
          <a:ext cx="10317336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2445714155"/>
                    </a:ext>
                  </a:extLst>
                </a:gridCol>
                <a:gridCol w="1930836">
                  <a:extLst>
                    <a:ext uri="{9D8B030D-6E8A-4147-A177-3AD203B41FA5}">
                      <a16:colId xmlns:a16="http://schemas.microsoft.com/office/drawing/2014/main" val="1828889100"/>
                    </a:ext>
                  </a:extLst>
                </a:gridCol>
                <a:gridCol w="2579334">
                  <a:extLst>
                    <a:ext uri="{9D8B030D-6E8A-4147-A177-3AD203B41FA5}">
                      <a16:colId xmlns:a16="http://schemas.microsoft.com/office/drawing/2014/main" val="226386296"/>
                    </a:ext>
                  </a:extLst>
                </a:gridCol>
                <a:gridCol w="2579334">
                  <a:extLst>
                    <a:ext uri="{9D8B030D-6E8A-4147-A177-3AD203B41FA5}">
                      <a16:colId xmlns:a16="http://schemas.microsoft.com/office/drawing/2014/main" val="2185972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Tariff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Electricity bill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(Nov 2024 – Apr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Saving vs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48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Fixed 12M Nov 2024 (</a:t>
                      </a:r>
                      <a:r>
                        <a:rPr lang="en-GB" sz="1600" i="1" dirty="0"/>
                        <a:t>baseline</a:t>
                      </a:r>
                      <a:r>
                        <a:rPr lang="en-GB" sz="1600" i="0" dirty="0"/>
                        <a:t>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Fixed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5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Flexible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Variable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 (-%)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Cosy Octopus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Time-of-use: heat-pump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 (-%)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Octopus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Time-of-use: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£1236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 (-%)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6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b="0" dirty="0"/>
                        <a:t>OVO Charge Anytime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Type-of-use: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£1265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-£ (-%)*</a:t>
                      </a:r>
                    </a:p>
                    <a:p>
                      <a:endParaRPr lang="en-GB" sz="16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OVO Heat Pump Plus*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200" dirty="0"/>
                        <a:t>* Not taking new customers at time of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Type-of-use: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 (-%)*</a:t>
                      </a:r>
                      <a:endParaRPr lang="en-GB" sz="1600" b="0" dirty="0"/>
                    </a:p>
                    <a:p>
                      <a:endParaRPr lang="en-GB" sz="12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36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OVO Charge Anytime + Heat Pump Plus*</a:t>
                      </a:r>
                    </a:p>
                    <a:p>
                      <a:endParaRPr lang="en-GB" sz="1600" dirty="0"/>
                    </a:p>
                    <a:p>
                      <a:r>
                        <a:rPr lang="en-GB" sz="1200" dirty="0"/>
                        <a:t>*Not clear if it is possible to combine these two add-ons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Type-of-use: HP &amp; EV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-£ (-%) *</a:t>
                      </a:r>
                      <a:endParaRPr lang="en-GB" sz="1600" b="0" dirty="0"/>
                    </a:p>
                    <a:p>
                      <a:endParaRPr lang="en-GB" sz="1200" b="0" dirty="0"/>
                    </a:p>
                    <a:p>
                      <a:r>
                        <a:rPr lang="en-GB" sz="1200" b="0" dirty="0"/>
                        <a:t>* Compared to OVO standard tariff, March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22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37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F519-8786-26FE-23A2-8CA56A25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9415-4E96-477C-3094-0D63BD744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much “</a:t>
            </a:r>
            <a:r>
              <a:rPr lang="en-GB" dirty="0" err="1"/>
              <a:t>antiflex</a:t>
            </a:r>
            <a:r>
              <a:rPr lang="en-GB" dirty="0"/>
              <a:t>” would have to happen for a tariff to leave each persona worse off?</a:t>
            </a:r>
          </a:p>
          <a:p>
            <a:r>
              <a:rPr lang="en-GB" dirty="0"/>
              <a:t>Are some personas / tariffs more risky than others?</a:t>
            </a:r>
          </a:p>
        </p:txBody>
      </p:sp>
    </p:spTree>
    <p:extLst>
      <p:ext uri="{BB962C8B-B14F-4D97-AF65-F5344CB8AC3E}">
        <p14:creationId xmlns:p14="http://schemas.microsoft.com/office/powerpoint/2010/main" val="1804367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1EC3-F385-AF90-AC13-0AD246B1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2EAE-F0B2-160B-6800-575484387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07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2265</Words>
  <Application>Microsoft Office PowerPoint</Application>
  <PresentationFormat>Widescreen</PresentationFormat>
  <Paragraphs>510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Financial analysis</vt:lpstr>
      <vt:lpstr>Personas</vt:lpstr>
      <vt:lpstr>PowerPoint Presentation</vt:lpstr>
      <vt:lpstr>Agile comparison</vt:lpstr>
      <vt:lpstr>Agile comparison: flex or anti-flex?</vt:lpstr>
      <vt:lpstr>Agile comparison: flex or anti-flex?</vt:lpstr>
      <vt:lpstr>Agile comparison: flex or anti-flex?</vt:lpstr>
      <vt:lpstr>Agile comparison: example flexing behaviours</vt:lpstr>
      <vt:lpstr>Agile comparison: example flexing behaviours</vt:lpstr>
      <vt:lpstr>Agile comparison: example flexing behaviours</vt:lpstr>
      <vt:lpstr>Agile comparison: example flexing behaviours</vt:lpstr>
      <vt:lpstr>Agile comparison: example flexing behaviours</vt:lpstr>
      <vt:lpstr>Agile comparison: example flexing behaviours</vt:lpstr>
      <vt:lpstr>Agile comparison: example flexing behaviours</vt:lpstr>
      <vt:lpstr>Agile comparison: yearly bills per persona</vt:lpstr>
      <vt:lpstr>Agile comparison: yearly bills per persona</vt:lpstr>
      <vt:lpstr>PowerPoint Presentation</vt:lpstr>
      <vt:lpstr>Persona 1 optimal tariff (ES)</vt:lpstr>
      <vt:lpstr>Persona 2 optimal tariff (G10p)</vt:lpstr>
      <vt:lpstr>Persona 3 optimal tariff (VX)</vt:lpstr>
      <vt:lpstr>Persona 3 optimal tariff (VX)</vt:lpstr>
      <vt:lpstr>Persona 4 optimal tariff (G22)</vt:lpstr>
      <vt:lpstr>Persona 5 optimal tariff (HP + EV)</vt:lpstr>
      <vt:lpstr>Persona 5 optimal tariff (HP + EV)</vt:lpstr>
      <vt:lpstr>Risks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Woodward</dc:creator>
  <cp:lastModifiedBy>Julian Woodward</cp:lastModifiedBy>
  <cp:revision>14</cp:revision>
  <dcterms:created xsi:type="dcterms:W3CDTF">2025-03-25T16:50:08Z</dcterms:created>
  <dcterms:modified xsi:type="dcterms:W3CDTF">2025-04-09T12:13:41Z</dcterms:modified>
</cp:coreProperties>
</file>